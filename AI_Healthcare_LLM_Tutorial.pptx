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320040" cy="5070348"/>
          </a:xfrm>
          <a:prstGeom prst="rect">
            <a:avLst/>
          </a:prstGeom>
          <a:solidFill>
            <a:srgbClr val="028090"/>
          </a:solidFill>
          <a:ln w="12700">
            <a:solidFill>
              <a:srgbClr val="028090"/>
            </a:solidFill>
            <a:prstDash val="solid"/>
          </a:ln>
        </p:spPr>
      </p:sp>
      <p:sp>
        <p:nvSpPr>
          <p:cNvPr id="4" name="Shape 2"/>
          <p:cNvSpPr/>
          <p:nvPr/>
        </p:nvSpPr>
        <p:spPr>
          <a:xfrm>
            <a:off x="1005840" y="1005840"/>
            <a:ext cx="548640" cy="164592"/>
          </a:xfrm>
          <a:prstGeom prst="rect">
            <a:avLst/>
          </a:prstGeom>
          <a:solidFill>
            <a:srgbClr val="02C39A"/>
          </a:solidFill>
          <a:ln w="12700">
            <a:solidFill>
              <a:srgbClr val="02C39A"/>
            </a:solidFill>
            <a:prstDash val="solid"/>
          </a:ln>
        </p:spPr>
      </p:sp>
      <p:sp>
        <p:nvSpPr>
          <p:cNvPr id="5" name="Shape 3"/>
          <p:cNvSpPr/>
          <p:nvPr/>
        </p:nvSpPr>
        <p:spPr>
          <a:xfrm>
            <a:off x="1225296" y="795528"/>
            <a:ext cx="164592" cy="594360"/>
          </a:xfrm>
          <a:prstGeom prst="rect">
            <a:avLst/>
          </a:prstGeom>
          <a:solidFill>
            <a:srgbClr val="02C39A"/>
          </a:solidFill>
          <a:ln w="12700">
            <a:solidFill>
              <a:srgbClr val="02C39A"/>
            </a:solidFill>
            <a:prstDash val="solid"/>
          </a:ln>
        </p:spPr>
      </p:sp>
      <p:sp>
        <p:nvSpPr>
          <p:cNvPr id="6" name="Text 4"/>
          <p:cNvSpPr/>
          <p:nvPr/>
        </p:nvSpPr>
        <p:spPr>
          <a:xfrm>
            <a:off x="640080" y="1097280"/>
            <a:ext cx="8046720" cy="777240"/>
          </a:xfrm>
          <a:prstGeom prst="rect">
            <a:avLst/>
          </a:prstGeom>
          <a:noFill/>
          <a:ln/>
        </p:spPr>
        <p:txBody>
          <a:bodyPr wrap="square" lIns="0" tIns="0" rIns="0" bIns="0"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Medical Note Simplification</a:t>
            </a:r>
            <a:endParaRPr lang="en-US" sz="3800" dirty="0"/>
          </a:p>
        </p:txBody>
      </p:sp>
      <p:sp>
        <p:nvSpPr>
          <p:cNvPr id="7" name="Text 5"/>
          <p:cNvSpPr/>
          <p:nvPr/>
        </p:nvSpPr>
        <p:spPr>
          <a:xfrm>
            <a:off x="640080" y="1783080"/>
            <a:ext cx="8046720" cy="594360"/>
          </a:xfrm>
          <a:prstGeom prst="rect">
            <a:avLst/>
          </a:prstGeom>
          <a:noFill/>
          <a:ln/>
        </p:spPr>
        <p:txBody>
          <a:bodyPr wrap="square" lIns="0" tIns="0" rIns="0" bIns="0" rtlCol="0" anchor="ctr"/>
          <a:lstStyle/>
          <a:p>
            <a:pPr algn="l" indent="0" marL="0">
              <a:buNone/>
            </a:pPr>
            <a:r>
              <a:rPr lang="en-US" sz="2800" dirty="0">
                <a:solidFill>
                  <a:srgbClr val="02C39A"/>
                </a:solidFill>
                <a:latin typeface="Calibri" pitchFamily="34" charset="0"/>
                <a:ea typeface="Calibri" pitchFamily="34" charset="-122"/>
                <a:cs typeface="Calibri" pitchFamily="34" charset="-120"/>
              </a:rPr>
              <a:t>Using Large Language Models</a:t>
            </a:r>
            <a:endParaRPr lang="en-US" sz="2800" dirty="0"/>
          </a:p>
        </p:txBody>
      </p:sp>
      <p:sp>
        <p:nvSpPr>
          <p:cNvPr id="8" name="Shape 6"/>
          <p:cNvSpPr/>
          <p:nvPr/>
        </p:nvSpPr>
        <p:spPr>
          <a:xfrm>
            <a:off x="640080" y="2487168"/>
            <a:ext cx="6858000" cy="36576"/>
          </a:xfrm>
          <a:prstGeom prst="rect">
            <a:avLst/>
          </a:prstGeom>
          <a:solidFill>
            <a:srgbClr val="1C7293"/>
          </a:solidFill>
          <a:ln w="12700">
            <a:solidFill>
              <a:srgbClr val="1C7293"/>
            </a:solidFill>
            <a:prstDash val="solid"/>
          </a:ln>
        </p:spPr>
      </p:sp>
      <p:sp>
        <p:nvSpPr>
          <p:cNvPr id="9" name="Text 7"/>
          <p:cNvSpPr/>
          <p:nvPr/>
        </p:nvSpPr>
        <p:spPr>
          <a:xfrm>
            <a:off x="640080" y="2651760"/>
            <a:ext cx="8046720" cy="411480"/>
          </a:xfrm>
          <a:prstGeom prst="rect">
            <a:avLst/>
          </a:prstGeom>
          <a:noFill/>
          <a:ln/>
        </p:spPr>
        <p:txBody>
          <a:bodyPr wrap="square" lIns="0" tIns="0" rIns="0" bIns="0" rtlCol="0" anchor="ctr"/>
          <a:lstStyle/>
          <a:p>
            <a:pPr algn="l" indent="0" marL="0">
              <a:buNone/>
            </a:pPr>
            <a:r>
              <a:rPr lang="en-US" sz="1600" i="1" dirty="0">
                <a:solidFill>
                  <a:srgbClr val="CADCFC"/>
                </a:solidFill>
                <a:latin typeface="Calibri" pitchFamily="34" charset="0"/>
                <a:ea typeface="Calibri" pitchFamily="34" charset="-122"/>
                <a:cs typeface="Calibri" pitchFamily="34" charset="-120"/>
              </a:rPr>
              <a:t>Prompt Engineering for Patient Literacy Levels</a:t>
            </a:r>
            <a:endParaRPr lang="en-US" sz="1600" dirty="0"/>
          </a:p>
        </p:txBody>
      </p:sp>
      <p:sp>
        <p:nvSpPr>
          <p:cNvPr id="10" name="Shape 8"/>
          <p:cNvSpPr/>
          <p:nvPr/>
        </p:nvSpPr>
        <p:spPr>
          <a:xfrm>
            <a:off x="640080" y="3291840"/>
            <a:ext cx="1965960" cy="777240"/>
          </a:xfrm>
          <a:prstGeom prst="rect">
            <a:avLst/>
          </a:prstGeom>
          <a:solidFill>
            <a:srgbClr val="1C7293"/>
          </a:solidFill>
          <a:ln w="12700">
            <a:solidFill>
              <a:srgbClr val="1C7293"/>
            </a:solidFill>
            <a:prstDash val="solid"/>
          </a:ln>
          <a:effectLst>
            <a:outerShdw sx="100000" sy="100000" kx="0" ky="0" algn="bl" rotWithShape="0" blurRad="76200" dist="25400" dir="8100000">
              <a:srgbClr val="000000">
                <a:alpha val="12000"/>
              </a:srgbClr>
            </a:outerShdw>
          </a:effectLst>
        </p:spPr>
      </p:sp>
      <p:sp>
        <p:nvSpPr>
          <p:cNvPr id="11" name="Text 9"/>
          <p:cNvSpPr/>
          <p:nvPr/>
        </p:nvSpPr>
        <p:spPr>
          <a:xfrm>
            <a:off x="640080" y="3337560"/>
            <a:ext cx="1965960" cy="201168"/>
          </a:xfrm>
          <a:prstGeom prst="rect">
            <a:avLst/>
          </a:prstGeom>
          <a:noFill/>
          <a:ln/>
        </p:spPr>
        <p:txBody>
          <a:bodyPr wrap="square" lIns="0" tIns="0" rIns="0" bIns="0" rtlCol="0" anchor="ctr"/>
          <a:lstStyle/>
          <a:p>
            <a:pPr algn="ctr" indent="0" marL="0">
              <a:buNone/>
            </a:pPr>
            <a:r>
              <a:rPr lang="en-US" sz="800" b="1" dirty="0">
                <a:solidFill>
                  <a:srgbClr val="02C39A"/>
                </a:solidFill>
                <a:latin typeface="Calibri" pitchFamily="34" charset="0"/>
                <a:ea typeface="Calibri" pitchFamily="34" charset="-122"/>
                <a:cs typeface="Calibri" pitchFamily="34" charset="-120"/>
              </a:rPr>
              <a:t>AUTHOR</a:t>
            </a:r>
            <a:endParaRPr lang="en-US" sz="800" dirty="0"/>
          </a:p>
        </p:txBody>
      </p:sp>
      <p:sp>
        <p:nvSpPr>
          <p:cNvPr id="12" name="Text 10"/>
          <p:cNvSpPr/>
          <p:nvPr/>
        </p:nvSpPr>
        <p:spPr>
          <a:xfrm>
            <a:off x="640080" y="3547872"/>
            <a:ext cx="196596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Frahim Mohd</a:t>
            </a:r>
            <a:endParaRPr lang="en-US" sz="1100" dirty="0"/>
          </a:p>
        </p:txBody>
      </p:sp>
      <p:sp>
        <p:nvSpPr>
          <p:cNvPr id="13" name="Shape 11"/>
          <p:cNvSpPr/>
          <p:nvPr/>
        </p:nvSpPr>
        <p:spPr>
          <a:xfrm>
            <a:off x="2788920" y="3291840"/>
            <a:ext cx="1965960" cy="777240"/>
          </a:xfrm>
          <a:prstGeom prst="rect">
            <a:avLst/>
          </a:prstGeom>
          <a:solidFill>
            <a:srgbClr val="1C7293"/>
          </a:solidFill>
          <a:ln w="12700">
            <a:solidFill>
              <a:srgbClr val="1C7293"/>
            </a:solidFill>
            <a:prstDash val="solid"/>
          </a:ln>
          <a:effectLst>
            <a:outerShdw sx="100000" sy="100000" kx="0" ky="0" algn="bl" rotWithShape="0" blurRad="76200" dist="25400" dir="8100000">
              <a:srgbClr val="000000">
                <a:alpha val="12000"/>
              </a:srgbClr>
            </a:outerShdw>
          </a:effectLst>
        </p:spPr>
      </p:sp>
      <p:sp>
        <p:nvSpPr>
          <p:cNvPr id="14" name="Text 12"/>
          <p:cNvSpPr/>
          <p:nvPr/>
        </p:nvSpPr>
        <p:spPr>
          <a:xfrm>
            <a:off x="2788920" y="3337560"/>
            <a:ext cx="1965960" cy="201168"/>
          </a:xfrm>
          <a:prstGeom prst="rect">
            <a:avLst/>
          </a:prstGeom>
          <a:noFill/>
          <a:ln/>
        </p:spPr>
        <p:txBody>
          <a:bodyPr wrap="square" lIns="0" tIns="0" rIns="0" bIns="0" rtlCol="0" anchor="ctr"/>
          <a:lstStyle/>
          <a:p>
            <a:pPr algn="ctr" indent="0" marL="0">
              <a:buNone/>
            </a:pPr>
            <a:r>
              <a:rPr lang="en-US" sz="800" b="1" dirty="0">
                <a:solidFill>
                  <a:srgbClr val="02C39A"/>
                </a:solidFill>
                <a:latin typeface="Calibri" pitchFamily="34" charset="0"/>
                <a:ea typeface="Calibri" pitchFamily="34" charset="-122"/>
                <a:cs typeface="Calibri" pitchFamily="34" charset="-120"/>
              </a:rPr>
              <a:t>COURSE</a:t>
            </a:r>
            <a:endParaRPr lang="en-US" sz="800" dirty="0"/>
          </a:p>
        </p:txBody>
      </p:sp>
      <p:sp>
        <p:nvSpPr>
          <p:cNvPr id="15" name="Text 13"/>
          <p:cNvSpPr/>
          <p:nvPr/>
        </p:nvSpPr>
        <p:spPr>
          <a:xfrm>
            <a:off x="2788920" y="3547872"/>
            <a:ext cx="196596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AI in Healthcare</a:t>
            </a:r>
            <a:endParaRPr lang="en-US" sz="1100" dirty="0"/>
          </a:p>
        </p:txBody>
      </p:sp>
      <p:sp>
        <p:nvSpPr>
          <p:cNvPr id="16" name="Shape 14"/>
          <p:cNvSpPr/>
          <p:nvPr/>
        </p:nvSpPr>
        <p:spPr>
          <a:xfrm>
            <a:off x="4937760" y="3291840"/>
            <a:ext cx="1965960" cy="777240"/>
          </a:xfrm>
          <a:prstGeom prst="rect">
            <a:avLst/>
          </a:prstGeom>
          <a:solidFill>
            <a:srgbClr val="1C7293"/>
          </a:solidFill>
          <a:ln w="12700">
            <a:solidFill>
              <a:srgbClr val="1C7293"/>
            </a:solidFill>
            <a:prstDash val="solid"/>
          </a:ln>
          <a:effectLst>
            <a:outerShdw sx="100000" sy="100000" kx="0" ky="0" algn="bl" rotWithShape="0" blurRad="76200" dist="25400" dir="8100000">
              <a:srgbClr val="000000">
                <a:alpha val="12000"/>
              </a:srgbClr>
            </a:outerShdw>
          </a:effectLst>
        </p:spPr>
      </p:sp>
      <p:sp>
        <p:nvSpPr>
          <p:cNvPr id="17" name="Text 15"/>
          <p:cNvSpPr/>
          <p:nvPr/>
        </p:nvSpPr>
        <p:spPr>
          <a:xfrm>
            <a:off x="4937760" y="3337560"/>
            <a:ext cx="1965960" cy="201168"/>
          </a:xfrm>
          <a:prstGeom prst="rect">
            <a:avLst/>
          </a:prstGeom>
          <a:noFill/>
          <a:ln/>
        </p:spPr>
        <p:txBody>
          <a:bodyPr wrap="square" lIns="0" tIns="0" rIns="0" bIns="0" rtlCol="0" anchor="ctr"/>
          <a:lstStyle/>
          <a:p>
            <a:pPr algn="ctr" indent="0" marL="0">
              <a:buNone/>
            </a:pPr>
            <a:r>
              <a:rPr lang="en-US" sz="800" b="1" dirty="0">
                <a:solidFill>
                  <a:srgbClr val="02C39A"/>
                </a:solidFill>
                <a:latin typeface="Calibri" pitchFamily="34" charset="0"/>
                <a:ea typeface="Calibri" pitchFamily="34" charset="-122"/>
                <a:cs typeface="Calibri" pitchFamily="34" charset="-120"/>
              </a:rPr>
              <a:t>UNIVERSITY</a:t>
            </a:r>
            <a:endParaRPr lang="en-US" sz="800" dirty="0"/>
          </a:p>
        </p:txBody>
      </p:sp>
      <p:sp>
        <p:nvSpPr>
          <p:cNvPr id="18" name="Text 16"/>
          <p:cNvSpPr/>
          <p:nvPr/>
        </p:nvSpPr>
        <p:spPr>
          <a:xfrm>
            <a:off x="4937760" y="3547872"/>
            <a:ext cx="196596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UT Austin</a:t>
            </a:r>
            <a:endParaRPr lang="en-US" sz="1100" dirty="0"/>
          </a:p>
        </p:txBody>
      </p:sp>
      <p:sp>
        <p:nvSpPr>
          <p:cNvPr id="19" name="Shape 17"/>
          <p:cNvSpPr/>
          <p:nvPr/>
        </p:nvSpPr>
        <p:spPr>
          <a:xfrm>
            <a:off x="7086600" y="3291840"/>
            <a:ext cx="1965960" cy="777240"/>
          </a:xfrm>
          <a:prstGeom prst="rect">
            <a:avLst/>
          </a:prstGeom>
          <a:solidFill>
            <a:srgbClr val="1C7293"/>
          </a:solidFill>
          <a:ln w="12700">
            <a:solidFill>
              <a:srgbClr val="1C7293"/>
            </a:solidFill>
            <a:prstDash val="solid"/>
          </a:ln>
          <a:effectLst>
            <a:outerShdw sx="100000" sy="100000" kx="0" ky="0" algn="bl" rotWithShape="0" blurRad="76200" dist="25400" dir="8100000">
              <a:srgbClr val="000000">
                <a:alpha val="12000"/>
              </a:srgbClr>
            </a:outerShdw>
          </a:effectLst>
        </p:spPr>
      </p:sp>
      <p:sp>
        <p:nvSpPr>
          <p:cNvPr id="20" name="Text 18"/>
          <p:cNvSpPr/>
          <p:nvPr/>
        </p:nvSpPr>
        <p:spPr>
          <a:xfrm>
            <a:off x="7086600" y="3337560"/>
            <a:ext cx="1965960" cy="201168"/>
          </a:xfrm>
          <a:prstGeom prst="rect">
            <a:avLst/>
          </a:prstGeom>
          <a:noFill/>
          <a:ln/>
        </p:spPr>
        <p:txBody>
          <a:bodyPr wrap="square" lIns="0" tIns="0" rIns="0" bIns="0" rtlCol="0" anchor="ctr"/>
          <a:lstStyle/>
          <a:p>
            <a:pPr algn="ctr" indent="0" marL="0">
              <a:buNone/>
            </a:pPr>
            <a:r>
              <a:rPr lang="en-US" sz="800" b="1" dirty="0">
                <a:solidFill>
                  <a:srgbClr val="02C39A"/>
                </a:solidFill>
                <a:latin typeface="Calibri" pitchFamily="34" charset="0"/>
                <a:ea typeface="Calibri" pitchFamily="34" charset="-122"/>
                <a:cs typeface="Calibri" pitchFamily="34" charset="-120"/>
              </a:rPr>
              <a:t>DATE</a:t>
            </a:r>
            <a:endParaRPr lang="en-US" sz="800" dirty="0"/>
          </a:p>
        </p:txBody>
      </p:sp>
      <p:sp>
        <p:nvSpPr>
          <p:cNvPr id="21" name="Text 19"/>
          <p:cNvSpPr/>
          <p:nvPr/>
        </p:nvSpPr>
        <p:spPr>
          <a:xfrm>
            <a:off x="7086600" y="3547872"/>
            <a:ext cx="196596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April 2026</a:t>
            </a:r>
            <a:endParaRPr lang="en-US" sz="1100" dirty="0"/>
          </a:p>
        </p:txBody>
      </p:sp>
      <p:sp>
        <p:nvSpPr>
          <p:cNvPr id="22" name="Text 20"/>
          <p:cNvSpPr/>
          <p:nvPr/>
        </p:nvSpPr>
        <p:spPr>
          <a:xfrm>
            <a:off x="640080" y="4480560"/>
            <a:ext cx="8046720" cy="274320"/>
          </a:xfrm>
          <a:prstGeom prst="rect">
            <a:avLst/>
          </a:prstGeom>
          <a:noFill/>
          <a:ln/>
        </p:spPr>
        <p:txBody>
          <a:bodyPr wrap="square" lIns="0" tIns="0" rIns="0" bIns="0" rtlCol="0" anchor="ctr"/>
          <a:lstStyle/>
          <a:p>
            <a:pPr algn="l" indent="0" marL="0">
              <a:buNone/>
            </a:pPr>
            <a:r>
              <a:rPr lang="en-US" sz="1000" i="1" dirty="0">
                <a:solidFill>
                  <a:srgbClr val="CADCFC"/>
                </a:solidFill>
                <a:latin typeface="Calibri" pitchFamily="34" charset="0"/>
                <a:ea typeface="Calibri" pitchFamily="34" charset="-122"/>
                <a:cs typeface="Calibri" pitchFamily="34" charset="-120"/>
              </a:rPr>
              <a:t>Datasets: EBM-NLP Clinical Abstracts  |  Synthea Synthetic Patient Data (MITRE)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9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73152"/>
            <a:ext cx="8229600" cy="53035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Healthcare Problem</a:t>
            </a:r>
            <a:endParaRPr lang="en-US" sz="2400" dirty="0"/>
          </a:p>
        </p:txBody>
      </p:sp>
      <p:sp>
        <p:nvSpPr>
          <p:cNvPr id="4" name="Shape 2"/>
          <p:cNvSpPr/>
          <p:nvPr/>
        </p:nvSpPr>
        <p:spPr>
          <a:xfrm>
            <a:off x="365760" y="914400"/>
            <a:ext cx="2560320" cy="2011680"/>
          </a:xfrm>
          <a:prstGeom prst="rect">
            <a:avLst/>
          </a:prstGeom>
          <a:solidFill>
            <a:srgbClr val="065A82"/>
          </a:solidFill>
          <a:ln w="12700">
            <a:solidFill>
              <a:srgbClr val="065A82"/>
            </a:solidFill>
            <a:prstDash val="solid"/>
          </a:ln>
          <a:effectLst>
            <a:outerShdw sx="100000" sy="100000" kx="0" ky="0" algn="bl" rotWithShape="0" blurRad="76200" dist="25400" dir="8100000">
              <a:srgbClr val="000000">
                <a:alpha val="12000"/>
              </a:srgbClr>
            </a:outerShdw>
          </a:effectLst>
        </p:spPr>
      </p:sp>
      <p:sp>
        <p:nvSpPr>
          <p:cNvPr id="5" name="Text 3"/>
          <p:cNvSpPr/>
          <p:nvPr/>
        </p:nvSpPr>
        <p:spPr>
          <a:xfrm>
            <a:off x="365760" y="1051560"/>
            <a:ext cx="2560320" cy="822960"/>
          </a:xfrm>
          <a:prstGeom prst="rect">
            <a:avLst/>
          </a:prstGeom>
          <a:noFill/>
          <a:ln/>
        </p:spPr>
        <p:txBody>
          <a:bodyPr wrap="square" lIns="0" tIns="0" rIns="0" bIns="0" rtlCol="0" anchor="ctr"/>
          <a:lstStyle/>
          <a:p>
            <a:pPr algn="ctr" indent="0" marL="0">
              <a:buNone/>
            </a:pPr>
            <a:r>
              <a:rPr lang="en-US" sz="4000" b="1" dirty="0">
                <a:solidFill>
                  <a:srgbClr val="02C39A"/>
                </a:solidFill>
                <a:latin typeface="Calibri" pitchFamily="34" charset="0"/>
                <a:ea typeface="Calibri" pitchFamily="34" charset="-122"/>
                <a:cs typeface="Calibri" pitchFamily="34" charset="-120"/>
              </a:rPr>
              <a:t>9 in 10</a:t>
            </a:r>
            <a:endParaRPr lang="en-US" sz="4000" dirty="0"/>
          </a:p>
        </p:txBody>
      </p:sp>
      <p:sp>
        <p:nvSpPr>
          <p:cNvPr id="6" name="Text 4"/>
          <p:cNvSpPr/>
          <p:nvPr/>
        </p:nvSpPr>
        <p:spPr>
          <a:xfrm>
            <a:off x="365760" y="1828800"/>
            <a:ext cx="2560320" cy="8229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adults struggle to understand standard medical notes</a:t>
            </a:r>
            <a:endParaRPr lang="en-US" sz="1100" dirty="0"/>
          </a:p>
        </p:txBody>
      </p:sp>
      <p:sp>
        <p:nvSpPr>
          <p:cNvPr id="7" name="Shape 5"/>
          <p:cNvSpPr/>
          <p:nvPr/>
        </p:nvSpPr>
        <p:spPr>
          <a:xfrm>
            <a:off x="3200400" y="914400"/>
            <a:ext cx="5577840" cy="114300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8" name="Shape 6"/>
          <p:cNvSpPr/>
          <p:nvPr/>
        </p:nvSpPr>
        <p:spPr>
          <a:xfrm>
            <a:off x="3200400" y="914400"/>
            <a:ext cx="54864" cy="1143000"/>
          </a:xfrm>
          <a:prstGeom prst="rect">
            <a:avLst/>
          </a:prstGeom>
          <a:solidFill>
            <a:srgbClr val="028090"/>
          </a:solidFill>
          <a:ln w="12700">
            <a:solidFill>
              <a:srgbClr val="028090"/>
            </a:solidFill>
            <a:prstDash val="solid"/>
          </a:ln>
        </p:spPr>
      </p:sp>
      <p:sp>
        <p:nvSpPr>
          <p:cNvPr id="9" name="Text 7"/>
          <p:cNvSpPr/>
          <p:nvPr/>
        </p:nvSpPr>
        <p:spPr>
          <a:xfrm>
            <a:off x="3383280" y="1005840"/>
            <a:ext cx="5212080"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  Complex Jargon</a:t>
            </a:r>
            <a:endParaRPr lang="en-US" sz="1300" dirty="0"/>
          </a:p>
        </p:txBody>
      </p:sp>
      <p:sp>
        <p:nvSpPr>
          <p:cNvPr id="10" name="Text 8"/>
          <p:cNvSpPr/>
          <p:nvPr/>
        </p:nvSpPr>
        <p:spPr>
          <a:xfrm>
            <a:off x="3383280" y="1298448"/>
            <a:ext cx="5212080" cy="59436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Medical notes contain dense terminology like 'HbA1c', 'randomized double-blind' and 'statistically significant (p&lt;0.05)' that patients cannot understand.</a:t>
            </a:r>
            <a:endParaRPr lang="en-US" sz="1050" dirty="0"/>
          </a:p>
        </p:txBody>
      </p:sp>
      <p:sp>
        <p:nvSpPr>
          <p:cNvPr id="11" name="Shape 9"/>
          <p:cNvSpPr/>
          <p:nvPr/>
        </p:nvSpPr>
        <p:spPr>
          <a:xfrm>
            <a:off x="3200400" y="2240280"/>
            <a:ext cx="5577840" cy="114300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12" name="Shape 10"/>
          <p:cNvSpPr/>
          <p:nvPr/>
        </p:nvSpPr>
        <p:spPr>
          <a:xfrm>
            <a:off x="3200400" y="2240280"/>
            <a:ext cx="54864" cy="1143000"/>
          </a:xfrm>
          <a:prstGeom prst="rect">
            <a:avLst/>
          </a:prstGeom>
          <a:solidFill>
            <a:srgbClr val="028090"/>
          </a:solidFill>
          <a:ln w="12700">
            <a:solidFill>
              <a:srgbClr val="028090"/>
            </a:solidFill>
            <a:prstDash val="solid"/>
          </a:ln>
        </p:spPr>
      </p:sp>
      <p:sp>
        <p:nvSpPr>
          <p:cNvPr id="13" name="Text 11"/>
          <p:cNvSpPr/>
          <p:nvPr/>
        </p:nvSpPr>
        <p:spPr>
          <a:xfrm>
            <a:off x="3383280" y="2331720"/>
            <a:ext cx="5212080"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  One Size Fits All</a:t>
            </a:r>
            <a:endParaRPr lang="en-US" sz="1300" dirty="0"/>
          </a:p>
        </p:txBody>
      </p:sp>
      <p:sp>
        <p:nvSpPr>
          <p:cNvPr id="14" name="Text 12"/>
          <p:cNvSpPr/>
          <p:nvPr/>
        </p:nvSpPr>
        <p:spPr>
          <a:xfrm>
            <a:off x="3383280" y="2624328"/>
            <a:ext cx="5212080" cy="59436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The same clinical text is given to a 10-year-old child and a medical professional — with no adaptation for literacy level.</a:t>
            </a:r>
            <a:endParaRPr lang="en-US" sz="1050" dirty="0"/>
          </a:p>
        </p:txBody>
      </p:sp>
      <p:sp>
        <p:nvSpPr>
          <p:cNvPr id="15" name="Shape 13"/>
          <p:cNvSpPr/>
          <p:nvPr/>
        </p:nvSpPr>
        <p:spPr>
          <a:xfrm>
            <a:off x="3200400" y="3566160"/>
            <a:ext cx="5577840" cy="114300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16" name="Shape 14"/>
          <p:cNvSpPr/>
          <p:nvPr/>
        </p:nvSpPr>
        <p:spPr>
          <a:xfrm>
            <a:off x="3200400" y="3566160"/>
            <a:ext cx="54864" cy="1143000"/>
          </a:xfrm>
          <a:prstGeom prst="rect">
            <a:avLst/>
          </a:prstGeom>
          <a:solidFill>
            <a:srgbClr val="028090"/>
          </a:solidFill>
          <a:ln w="12700">
            <a:solidFill>
              <a:srgbClr val="028090"/>
            </a:solidFill>
            <a:prstDash val="solid"/>
          </a:ln>
        </p:spPr>
      </p:sp>
      <p:sp>
        <p:nvSpPr>
          <p:cNvPr id="17" name="Text 15"/>
          <p:cNvSpPr/>
          <p:nvPr/>
        </p:nvSpPr>
        <p:spPr>
          <a:xfrm>
            <a:off x="3383280" y="3657600"/>
            <a:ext cx="5212080"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  Patient Rights</a:t>
            </a:r>
            <a:endParaRPr lang="en-US" sz="1300" dirty="0"/>
          </a:p>
        </p:txBody>
      </p:sp>
      <p:sp>
        <p:nvSpPr>
          <p:cNvPr id="18" name="Text 16"/>
          <p:cNvSpPr/>
          <p:nvPr/>
        </p:nvSpPr>
        <p:spPr>
          <a:xfrm>
            <a:off x="3383280" y="3950208"/>
            <a:ext cx="5212080" cy="59436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Patients have a legal right to understand their own health records. Inaccessible notes undermine informed consent and health outcomes.</a:t>
            </a:r>
            <a:endParaRPr lang="en-US" sz="1050" dirty="0"/>
          </a:p>
        </p:txBody>
      </p:sp>
      <p:sp>
        <p:nvSpPr>
          <p:cNvPr id="19" name="Shape 17"/>
          <p:cNvSpPr/>
          <p:nvPr/>
        </p:nvSpPr>
        <p:spPr>
          <a:xfrm>
            <a:off x="0" y="4873752"/>
            <a:ext cx="9144000" cy="269748"/>
          </a:xfrm>
          <a:prstGeom prst="rect">
            <a:avLst/>
          </a:prstGeom>
          <a:solidFill>
            <a:srgbClr val="028090"/>
          </a:solidFill>
          <a:ln w="12700">
            <a:solidFill>
              <a:srgbClr val="028090"/>
            </a:solidFill>
            <a:prstDash val="solid"/>
          </a:ln>
        </p:spPr>
      </p:sp>
      <p:sp>
        <p:nvSpPr>
          <p:cNvPr id="20" name="Text 18"/>
          <p:cNvSpPr/>
          <p:nvPr/>
        </p:nvSpPr>
        <p:spPr>
          <a:xfrm>
            <a:off x="365760" y="4892040"/>
            <a:ext cx="82296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AI in Healthcare  |  Frahim Mohd  |  UT Austin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9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73152"/>
            <a:ext cx="8229600" cy="53035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Our Solution &amp; Datasets</a:t>
            </a:r>
            <a:endParaRPr lang="en-US" sz="2400" dirty="0"/>
          </a:p>
        </p:txBody>
      </p:sp>
      <p:sp>
        <p:nvSpPr>
          <p:cNvPr id="4" name="Shape 2"/>
          <p:cNvSpPr/>
          <p:nvPr/>
        </p:nvSpPr>
        <p:spPr>
          <a:xfrm>
            <a:off x="365760" y="822960"/>
            <a:ext cx="8412480" cy="594360"/>
          </a:xfrm>
          <a:prstGeom prst="rect">
            <a:avLst/>
          </a:prstGeom>
          <a:solidFill>
            <a:srgbClr val="028090"/>
          </a:solidFill>
          <a:ln w="12700">
            <a:solidFill>
              <a:srgbClr val="028090"/>
            </a:solidFill>
            <a:prstDash val="solid"/>
          </a:ln>
        </p:spPr>
      </p:sp>
      <p:sp>
        <p:nvSpPr>
          <p:cNvPr id="5" name="Text 3"/>
          <p:cNvSpPr/>
          <p:nvPr/>
        </p:nvSpPr>
        <p:spPr>
          <a:xfrm>
            <a:off x="457200" y="850392"/>
            <a:ext cx="822960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Use LLM prompt engineering to automatically simplify medical notes for 3 patient literacy levels</a:t>
            </a:r>
            <a:endParaRPr lang="en-US" sz="1250" dirty="0"/>
          </a:p>
        </p:txBody>
      </p:sp>
      <p:sp>
        <p:nvSpPr>
          <p:cNvPr id="6" name="Shape 4"/>
          <p:cNvSpPr/>
          <p:nvPr/>
        </p:nvSpPr>
        <p:spPr>
          <a:xfrm>
            <a:off x="365760" y="1554480"/>
            <a:ext cx="2606040" cy="1645920"/>
          </a:xfrm>
          <a:prstGeom prst="rect">
            <a:avLst/>
          </a:prstGeom>
          <a:solidFill>
            <a:srgbClr val="065A82"/>
          </a:solidFill>
          <a:ln w="12700">
            <a:solidFill>
              <a:srgbClr val="065A82"/>
            </a:solidFill>
            <a:prstDash val="solid"/>
          </a:ln>
          <a:effectLst>
            <a:outerShdw sx="100000" sy="100000" kx="0" ky="0" algn="bl" rotWithShape="0" blurRad="76200" dist="25400" dir="8100000">
              <a:srgbClr val="000000">
                <a:alpha val="12000"/>
              </a:srgbClr>
            </a:outerShdw>
          </a:effectLst>
        </p:spPr>
      </p:sp>
      <p:sp>
        <p:nvSpPr>
          <p:cNvPr id="7" name="Text 5"/>
          <p:cNvSpPr/>
          <p:nvPr/>
        </p:nvSpPr>
        <p:spPr>
          <a:xfrm>
            <a:off x="365760" y="1627632"/>
            <a:ext cx="2606040" cy="45720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8" name="Text 6"/>
          <p:cNvSpPr/>
          <p:nvPr/>
        </p:nvSpPr>
        <p:spPr>
          <a:xfrm>
            <a:off x="365760" y="2057400"/>
            <a:ext cx="2606040" cy="274320"/>
          </a:xfrm>
          <a:prstGeom prst="rect">
            <a:avLst/>
          </a:prstGeom>
          <a:noFill/>
          <a:ln/>
        </p:spPr>
        <p:txBody>
          <a:bodyPr wrap="square" lIns="0" tIns="0" rIns="0" bIns="0"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5th Grade</a:t>
            </a:r>
            <a:endParaRPr lang="en-US" sz="1300" dirty="0"/>
          </a:p>
        </p:txBody>
      </p:sp>
      <p:sp>
        <p:nvSpPr>
          <p:cNvPr id="9" name="Text 7"/>
          <p:cNvSpPr/>
          <p:nvPr/>
        </p:nvSpPr>
        <p:spPr>
          <a:xfrm>
            <a:off x="365760" y="2359152"/>
            <a:ext cx="2606040" cy="68580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Simple words</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No medical jargon</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Short sentences</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Relatable analogies</a:t>
            </a:r>
            <a:endParaRPr lang="en-US" sz="950" dirty="0"/>
          </a:p>
        </p:txBody>
      </p:sp>
      <p:sp>
        <p:nvSpPr>
          <p:cNvPr id="10" name="Shape 8"/>
          <p:cNvSpPr/>
          <p:nvPr/>
        </p:nvSpPr>
        <p:spPr>
          <a:xfrm>
            <a:off x="3200400" y="1554480"/>
            <a:ext cx="2606040" cy="1645920"/>
          </a:xfrm>
          <a:prstGeom prst="rect">
            <a:avLst/>
          </a:prstGeom>
          <a:solidFill>
            <a:srgbClr val="065A82"/>
          </a:solidFill>
          <a:ln w="12700">
            <a:solidFill>
              <a:srgbClr val="065A82"/>
            </a:solidFill>
            <a:prstDash val="solid"/>
          </a:ln>
          <a:effectLst>
            <a:outerShdw sx="100000" sy="100000" kx="0" ky="0" algn="bl" rotWithShape="0" blurRad="76200" dist="25400" dir="8100000">
              <a:srgbClr val="000000">
                <a:alpha val="12000"/>
              </a:srgbClr>
            </a:outerShdw>
          </a:effectLst>
        </p:spPr>
      </p:sp>
      <p:sp>
        <p:nvSpPr>
          <p:cNvPr id="11" name="Text 9"/>
          <p:cNvSpPr/>
          <p:nvPr/>
        </p:nvSpPr>
        <p:spPr>
          <a:xfrm>
            <a:off x="3200400" y="1627632"/>
            <a:ext cx="2606040" cy="45720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2" name="Text 10"/>
          <p:cNvSpPr/>
          <p:nvPr/>
        </p:nvSpPr>
        <p:spPr>
          <a:xfrm>
            <a:off x="3200400" y="2057400"/>
            <a:ext cx="2606040" cy="274320"/>
          </a:xfrm>
          <a:prstGeom prst="rect">
            <a:avLst/>
          </a:prstGeom>
          <a:noFill/>
          <a:ln/>
        </p:spPr>
        <p:txBody>
          <a:bodyPr wrap="square" lIns="0" tIns="0" rIns="0" bIns="0"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High School</a:t>
            </a:r>
            <a:endParaRPr lang="en-US" sz="1300" dirty="0"/>
          </a:p>
        </p:txBody>
      </p:sp>
      <p:sp>
        <p:nvSpPr>
          <p:cNvPr id="13" name="Text 11"/>
          <p:cNvSpPr/>
          <p:nvPr/>
        </p:nvSpPr>
        <p:spPr>
          <a:xfrm>
            <a:off x="3200400" y="2359152"/>
            <a:ext cx="2606040" cy="68580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Some terms okay</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Always explained</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Clear structure</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Moderate detail</a:t>
            </a:r>
            <a:endParaRPr lang="en-US" sz="950" dirty="0"/>
          </a:p>
        </p:txBody>
      </p:sp>
      <p:sp>
        <p:nvSpPr>
          <p:cNvPr id="14" name="Shape 12"/>
          <p:cNvSpPr/>
          <p:nvPr/>
        </p:nvSpPr>
        <p:spPr>
          <a:xfrm>
            <a:off x="6035040" y="1554480"/>
            <a:ext cx="2606040" cy="1645920"/>
          </a:xfrm>
          <a:prstGeom prst="rect">
            <a:avLst/>
          </a:prstGeom>
          <a:solidFill>
            <a:srgbClr val="065A82"/>
          </a:solidFill>
          <a:ln w="12700">
            <a:solidFill>
              <a:srgbClr val="065A82"/>
            </a:solidFill>
            <a:prstDash val="solid"/>
          </a:ln>
          <a:effectLst>
            <a:outerShdw sx="100000" sy="100000" kx="0" ky="0" algn="bl" rotWithShape="0" blurRad="76200" dist="25400" dir="8100000">
              <a:srgbClr val="000000">
                <a:alpha val="12000"/>
              </a:srgbClr>
            </a:outerShdw>
          </a:effectLst>
        </p:spPr>
      </p:sp>
      <p:sp>
        <p:nvSpPr>
          <p:cNvPr id="15" name="Text 13"/>
          <p:cNvSpPr/>
          <p:nvPr/>
        </p:nvSpPr>
        <p:spPr>
          <a:xfrm>
            <a:off x="6035040" y="1627632"/>
            <a:ext cx="2606040" cy="45720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6" name="Text 14"/>
          <p:cNvSpPr/>
          <p:nvPr/>
        </p:nvSpPr>
        <p:spPr>
          <a:xfrm>
            <a:off x="6035040" y="2057400"/>
            <a:ext cx="2606040" cy="274320"/>
          </a:xfrm>
          <a:prstGeom prst="rect">
            <a:avLst/>
          </a:prstGeom>
          <a:noFill/>
          <a:ln/>
        </p:spPr>
        <p:txBody>
          <a:bodyPr wrap="square" lIns="0" tIns="0" rIns="0" bIns="0"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Medical Pro</a:t>
            </a:r>
            <a:endParaRPr lang="en-US" sz="1300" dirty="0"/>
          </a:p>
        </p:txBody>
      </p:sp>
      <p:sp>
        <p:nvSpPr>
          <p:cNvPr id="17" name="Text 15"/>
          <p:cNvSpPr/>
          <p:nvPr/>
        </p:nvSpPr>
        <p:spPr>
          <a:xfrm>
            <a:off x="6035040" y="2359152"/>
            <a:ext cx="2606040" cy="68580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Full clinical terms</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Structured bullets</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Key metrics kept</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Concise format</a:t>
            </a:r>
            <a:endParaRPr lang="en-US" sz="950" dirty="0"/>
          </a:p>
        </p:txBody>
      </p:sp>
      <p:sp>
        <p:nvSpPr>
          <p:cNvPr id="18" name="Text 16"/>
          <p:cNvSpPr/>
          <p:nvPr/>
        </p:nvSpPr>
        <p:spPr>
          <a:xfrm>
            <a:off x="365760" y="3337560"/>
            <a:ext cx="822960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  Datasets Used</a:t>
            </a:r>
            <a:endParaRPr lang="en-US" sz="1500" dirty="0"/>
          </a:p>
        </p:txBody>
      </p:sp>
      <p:sp>
        <p:nvSpPr>
          <p:cNvPr id="19" name="Shape 17"/>
          <p:cNvSpPr/>
          <p:nvPr/>
        </p:nvSpPr>
        <p:spPr>
          <a:xfrm>
            <a:off x="365760" y="3703320"/>
            <a:ext cx="4069080" cy="100584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20" name="Shape 18"/>
          <p:cNvSpPr/>
          <p:nvPr/>
        </p:nvSpPr>
        <p:spPr>
          <a:xfrm>
            <a:off x="365760" y="3703320"/>
            <a:ext cx="54864" cy="1005840"/>
          </a:xfrm>
          <a:prstGeom prst="rect">
            <a:avLst/>
          </a:prstGeom>
          <a:solidFill>
            <a:srgbClr val="02C39A"/>
          </a:solidFill>
          <a:ln w="12700">
            <a:solidFill>
              <a:srgbClr val="02C39A"/>
            </a:solidFill>
            <a:prstDash val="solid"/>
          </a:ln>
        </p:spPr>
      </p:sp>
      <p:sp>
        <p:nvSpPr>
          <p:cNvPr id="21" name="Text 19"/>
          <p:cNvSpPr/>
          <p:nvPr/>
        </p:nvSpPr>
        <p:spPr>
          <a:xfrm>
            <a:off x="502920" y="3749040"/>
            <a:ext cx="3749040" cy="25603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EBM-NLP — Evidence Based Medicine NLP</a:t>
            </a:r>
            <a:endParaRPr lang="en-US" sz="1100" dirty="0"/>
          </a:p>
        </p:txBody>
      </p:sp>
      <p:sp>
        <p:nvSpPr>
          <p:cNvPr id="22" name="Text 20"/>
          <p:cNvSpPr/>
          <p:nvPr/>
        </p:nvSpPr>
        <p:spPr>
          <a:xfrm>
            <a:off x="502920" y="4023360"/>
            <a:ext cx="3749040" cy="45720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Clinical trial abstracts from PubMed. Dense medical language covering diabetes, hypertension, depression, asthma, COVID-19.</a:t>
            </a:r>
            <a:endParaRPr lang="en-US" sz="950" dirty="0"/>
          </a:p>
        </p:txBody>
      </p:sp>
      <p:sp>
        <p:nvSpPr>
          <p:cNvPr id="23" name="Shape 21"/>
          <p:cNvSpPr/>
          <p:nvPr/>
        </p:nvSpPr>
        <p:spPr>
          <a:xfrm>
            <a:off x="3474720" y="3730752"/>
            <a:ext cx="822960" cy="201168"/>
          </a:xfrm>
          <a:prstGeom prst="rect">
            <a:avLst/>
          </a:prstGeom>
          <a:solidFill>
            <a:srgbClr val="028090"/>
          </a:solidFill>
          <a:ln w="12700">
            <a:solidFill>
              <a:srgbClr val="028090"/>
            </a:solidFill>
            <a:prstDash val="solid"/>
          </a:ln>
        </p:spPr>
      </p:sp>
      <p:sp>
        <p:nvSpPr>
          <p:cNvPr id="24" name="Text 22"/>
          <p:cNvSpPr/>
          <p:nvPr/>
        </p:nvSpPr>
        <p:spPr>
          <a:xfrm>
            <a:off x="3474720" y="3730752"/>
            <a:ext cx="82296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Text Data</a:t>
            </a:r>
            <a:endParaRPr lang="en-US" sz="800" dirty="0"/>
          </a:p>
        </p:txBody>
      </p:sp>
      <p:sp>
        <p:nvSpPr>
          <p:cNvPr id="25" name="Shape 23"/>
          <p:cNvSpPr/>
          <p:nvPr/>
        </p:nvSpPr>
        <p:spPr>
          <a:xfrm>
            <a:off x="4663440" y="3703320"/>
            <a:ext cx="4069080" cy="100584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26" name="Shape 24"/>
          <p:cNvSpPr/>
          <p:nvPr/>
        </p:nvSpPr>
        <p:spPr>
          <a:xfrm>
            <a:off x="4663440" y="3703320"/>
            <a:ext cx="54864" cy="1005840"/>
          </a:xfrm>
          <a:prstGeom prst="rect">
            <a:avLst/>
          </a:prstGeom>
          <a:solidFill>
            <a:srgbClr val="02C39A"/>
          </a:solidFill>
          <a:ln w="12700">
            <a:solidFill>
              <a:srgbClr val="02C39A"/>
            </a:solidFill>
            <a:prstDash val="solid"/>
          </a:ln>
        </p:spPr>
      </p:sp>
      <p:sp>
        <p:nvSpPr>
          <p:cNvPr id="27" name="Text 25"/>
          <p:cNvSpPr/>
          <p:nvPr/>
        </p:nvSpPr>
        <p:spPr>
          <a:xfrm>
            <a:off x="4800600" y="3749040"/>
            <a:ext cx="3749040" cy="25603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Synthea — MITRE Corporation</a:t>
            </a:r>
            <a:endParaRPr lang="en-US" sz="1100" dirty="0"/>
          </a:p>
        </p:txBody>
      </p:sp>
      <p:sp>
        <p:nvSpPr>
          <p:cNvPr id="28" name="Text 26"/>
          <p:cNvSpPr/>
          <p:nvPr/>
        </p:nvSpPr>
        <p:spPr>
          <a:xfrm>
            <a:off x="4800600" y="4023360"/>
            <a:ext cx="3749040" cy="45720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100 synthetic patients. CSV files: patients.csv, conditions.csv, medications.csv. Realistic EHR-style tabular data.</a:t>
            </a:r>
            <a:endParaRPr lang="en-US" sz="950" dirty="0"/>
          </a:p>
        </p:txBody>
      </p:sp>
      <p:sp>
        <p:nvSpPr>
          <p:cNvPr id="29" name="Shape 27"/>
          <p:cNvSpPr/>
          <p:nvPr/>
        </p:nvSpPr>
        <p:spPr>
          <a:xfrm>
            <a:off x="7772400" y="3730752"/>
            <a:ext cx="822960" cy="201168"/>
          </a:xfrm>
          <a:prstGeom prst="rect">
            <a:avLst/>
          </a:prstGeom>
          <a:solidFill>
            <a:srgbClr val="028090"/>
          </a:solidFill>
          <a:ln w="12700">
            <a:solidFill>
              <a:srgbClr val="028090"/>
            </a:solidFill>
            <a:prstDash val="solid"/>
          </a:ln>
        </p:spPr>
      </p:sp>
      <p:sp>
        <p:nvSpPr>
          <p:cNvPr id="30" name="Text 28"/>
          <p:cNvSpPr/>
          <p:nvPr/>
        </p:nvSpPr>
        <p:spPr>
          <a:xfrm>
            <a:off x="7772400" y="3730752"/>
            <a:ext cx="82296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Tabular Data</a:t>
            </a:r>
            <a:endParaRPr lang="en-US" sz="800" dirty="0"/>
          </a:p>
        </p:txBody>
      </p:sp>
      <p:sp>
        <p:nvSpPr>
          <p:cNvPr id="31" name="Shape 29"/>
          <p:cNvSpPr/>
          <p:nvPr/>
        </p:nvSpPr>
        <p:spPr>
          <a:xfrm>
            <a:off x="0" y="4873752"/>
            <a:ext cx="9144000" cy="269748"/>
          </a:xfrm>
          <a:prstGeom prst="rect">
            <a:avLst/>
          </a:prstGeom>
          <a:solidFill>
            <a:srgbClr val="028090"/>
          </a:solidFill>
          <a:ln w="12700">
            <a:solidFill>
              <a:srgbClr val="028090"/>
            </a:solidFill>
            <a:prstDash val="solid"/>
          </a:ln>
        </p:spPr>
      </p:sp>
      <p:sp>
        <p:nvSpPr>
          <p:cNvPr id="32" name="Text 30"/>
          <p:cNvSpPr/>
          <p:nvPr/>
        </p:nvSpPr>
        <p:spPr>
          <a:xfrm>
            <a:off x="365760" y="4892040"/>
            <a:ext cx="82296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AI in Healthcare  |  Frahim Mohd  |  UT Austin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9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73152"/>
            <a:ext cx="8229600" cy="53035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  End-to-End Pipeline — What Goes Into Each GPT Call</a:t>
            </a:r>
            <a:endParaRPr lang="en-US" sz="2400" dirty="0"/>
          </a:p>
        </p:txBody>
      </p:sp>
      <p:sp>
        <p:nvSpPr>
          <p:cNvPr id="4" name="Text 2"/>
          <p:cNvSpPr/>
          <p:nvPr/>
        </p:nvSpPr>
        <p:spPr>
          <a:xfrm>
            <a:off x="45720" y="804672"/>
            <a:ext cx="502920" cy="256032"/>
          </a:xfrm>
          <a:prstGeom prst="rect">
            <a:avLst/>
          </a:prstGeom>
          <a:noFill/>
          <a:ln/>
        </p:spPr>
        <p:txBody>
          <a:bodyPr wrap="square" lIns="0" tIns="0" rIns="0" bIns="0" rtlCol="0" anchor="ctr"/>
          <a:lstStyle/>
          <a:p>
            <a:pPr algn="r" indent="0" marL="0">
              <a:buNone/>
            </a:pPr>
            <a:r>
              <a:rPr lang="en-US" sz="650" b="1" dirty="0">
                <a:solidFill>
                  <a:srgbClr val="028090"/>
                </a:solidFill>
                <a:latin typeface="Calibri" pitchFamily="34" charset="0"/>
                <a:ea typeface="Calibri" pitchFamily="34" charset="-122"/>
                <a:cs typeface="Calibri" pitchFamily="34" charset="-120"/>
              </a:rPr>
              <a:t>DATA</a:t>
            </a:r>
            <a:endParaRPr lang="en-US" sz="650" dirty="0"/>
          </a:p>
        </p:txBody>
      </p:sp>
      <p:sp>
        <p:nvSpPr>
          <p:cNvPr id="5" name="Text 3"/>
          <p:cNvSpPr/>
          <p:nvPr/>
        </p:nvSpPr>
        <p:spPr>
          <a:xfrm>
            <a:off x="45720" y="1417320"/>
            <a:ext cx="502920" cy="256032"/>
          </a:xfrm>
          <a:prstGeom prst="rect">
            <a:avLst/>
          </a:prstGeom>
          <a:noFill/>
          <a:ln/>
        </p:spPr>
        <p:txBody>
          <a:bodyPr wrap="square" lIns="0" tIns="0" rIns="0" bIns="0" rtlCol="0" anchor="ctr"/>
          <a:lstStyle/>
          <a:p>
            <a:pPr algn="r" indent="0" marL="0">
              <a:buNone/>
            </a:pPr>
            <a:r>
              <a:rPr lang="en-US" sz="650" b="1" dirty="0">
                <a:solidFill>
                  <a:srgbClr val="028090"/>
                </a:solidFill>
                <a:latin typeface="Calibri" pitchFamily="34" charset="0"/>
                <a:ea typeface="Calibri" pitchFamily="34" charset="-122"/>
                <a:cs typeface="Calibri" pitchFamily="34" charset="-120"/>
              </a:rPr>
              <a:t>PREPROC</a:t>
            </a:r>
            <a:endParaRPr lang="en-US" sz="650" dirty="0"/>
          </a:p>
        </p:txBody>
      </p:sp>
      <p:sp>
        <p:nvSpPr>
          <p:cNvPr id="6" name="Text 4"/>
          <p:cNvSpPr/>
          <p:nvPr/>
        </p:nvSpPr>
        <p:spPr>
          <a:xfrm>
            <a:off x="45720" y="2084832"/>
            <a:ext cx="502920" cy="256032"/>
          </a:xfrm>
          <a:prstGeom prst="rect">
            <a:avLst/>
          </a:prstGeom>
          <a:noFill/>
          <a:ln/>
        </p:spPr>
        <p:txBody>
          <a:bodyPr wrap="square" lIns="0" tIns="0" rIns="0" bIns="0" rtlCol="0" anchor="ctr"/>
          <a:lstStyle/>
          <a:p>
            <a:pPr algn="r" indent="0" marL="0">
              <a:buNone/>
            </a:pPr>
            <a:r>
              <a:rPr lang="en-US" sz="650" b="1" dirty="0">
                <a:solidFill>
                  <a:srgbClr val="028090"/>
                </a:solidFill>
                <a:latin typeface="Calibri" pitchFamily="34" charset="0"/>
                <a:ea typeface="Calibri" pitchFamily="34" charset="-122"/>
                <a:cs typeface="Calibri" pitchFamily="34" charset="-120"/>
              </a:rPr>
              <a:t>PROMPTS</a:t>
            </a:r>
            <a:endParaRPr lang="en-US" sz="650" dirty="0"/>
          </a:p>
        </p:txBody>
      </p:sp>
      <p:sp>
        <p:nvSpPr>
          <p:cNvPr id="7" name="Text 5"/>
          <p:cNvSpPr/>
          <p:nvPr/>
        </p:nvSpPr>
        <p:spPr>
          <a:xfrm>
            <a:off x="45720" y="3090672"/>
            <a:ext cx="502920" cy="256032"/>
          </a:xfrm>
          <a:prstGeom prst="rect">
            <a:avLst/>
          </a:prstGeom>
          <a:noFill/>
          <a:ln/>
        </p:spPr>
        <p:txBody>
          <a:bodyPr wrap="square" lIns="0" tIns="0" rIns="0" bIns="0" rtlCol="0" anchor="ctr"/>
          <a:lstStyle/>
          <a:p>
            <a:pPr algn="r" indent="0" marL="0">
              <a:buNone/>
            </a:pPr>
            <a:r>
              <a:rPr lang="en-US" sz="650" b="1" dirty="0">
                <a:solidFill>
                  <a:srgbClr val="028090"/>
                </a:solidFill>
                <a:latin typeface="Calibri" pitchFamily="34" charset="0"/>
                <a:ea typeface="Calibri" pitchFamily="34" charset="-122"/>
                <a:cs typeface="Calibri" pitchFamily="34" charset="-120"/>
              </a:rPr>
              <a:t>GPT CALL 1</a:t>
            </a:r>
            <a:endParaRPr lang="en-US" sz="650" dirty="0"/>
          </a:p>
        </p:txBody>
      </p:sp>
      <p:sp>
        <p:nvSpPr>
          <p:cNvPr id="8" name="Text 6"/>
          <p:cNvSpPr/>
          <p:nvPr/>
        </p:nvSpPr>
        <p:spPr>
          <a:xfrm>
            <a:off x="45720" y="3730752"/>
            <a:ext cx="502920" cy="256032"/>
          </a:xfrm>
          <a:prstGeom prst="rect">
            <a:avLst/>
          </a:prstGeom>
          <a:noFill/>
          <a:ln/>
        </p:spPr>
        <p:txBody>
          <a:bodyPr wrap="square" lIns="0" tIns="0" rIns="0" bIns="0" rtlCol="0" anchor="ctr"/>
          <a:lstStyle/>
          <a:p>
            <a:pPr algn="r" indent="0" marL="0">
              <a:buNone/>
            </a:pPr>
            <a:r>
              <a:rPr lang="en-US" sz="650" b="1" dirty="0">
                <a:solidFill>
                  <a:srgbClr val="028090"/>
                </a:solidFill>
                <a:latin typeface="Calibri" pitchFamily="34" charset="0"/>
                <a:ea typeface="Calibri" pitchFamily="34" charset="-122"/>
                <a:cs typeface="Calibri" pitchFamily="34" charset="-120"/>
              </a:rPr>
              <a:t>OUTPUT</a:t>
            </a:r>
            <a:endParaRPr lang="en-US" sz="650" dirty="0"/>
          </a:p>
        </p:txBody>
      </p:sp>
      <p:sp>
        <p:nvSpPr>
          <p:cNvPr id="9" name="Text 7"/>
          <p:cNvSpPr/>
          <p:nvPr/>
        </p:nvSpPr>
        <p:spPr>
          <a:xfrm>
            <a:off x="45720" y="4315968"/>
            <a:ext cx="502920" cy="256032"/>
          </a:xfrm>
          <a:prstGeom prst="rect">
            <a:avLst/>
          </a:prstGeom>
          <a:noFill/>
          <a:ln/>
        </p:spPr>
        <p:txBody>
          <a:bodyPr wrap="square" lIns="0" tIns="0" rIns="0" bIns="0" rtlCol="0" anchor="ctr"/>
          <a:lstStyle/>
          <a:p>
            <a:pPr algn="r" indent="0" marL="0">
              <a:buNone/>
            </a:pPr>
            <a:r>
              <a:rPr lang="en-US" sz="650" b="1" dirty="0">
                <a:solidFill>
                  <a:srgbClr val="028090"/>
                </a:solidFill>
                <a:latin typeface="Calibri" pitchFamily="34" charset="0"/>
                <a:ea typeface="Calibri" pitchFamily="34" charset="-122"/>
                <a:cs typeface="Calibri" pitchFamily="34" charset="-120"/>
              </a:rPr>
              <a:t>GPT CALL 2</a:t>
            </a:r>
            <a:endParaRPr lang="en-US" sz="650" dirty="0"/>
          </a:p>
        </p:txBody>
      </p:sp>
      <p:sp>
        <p:nvSpPr>
          <p:cNvPr id="10" name="Shape 8"/>
          <p:cNvSpPr/>
          <p:nvPr/>
        </p:nvSpPr>
        <p:spPr>
          <a:xfrm>
            <a:off x="594360" y="777240"/>
            <a:ext cx="1828800" cy="411480"/>
          </a:xfrm>
          <a:prstGeom prst="rect">
            <a:avLst/>
          </a:prstGeom>
          <a:solidFill>
            <a:srgbClr val="028090"/>
          </a:solidFill>
          <a:ln w="12700">
            <a:solidFill>
              <a:srgbClr val="028090"/>
            </a:solidFill>
            <a:prstDash val="solid"/>
          </a:ln>
          <a:effectLst>
            <a:outerShdw sx="100000" sy="100000" kx="0" ky="0" algn="bl" rotWithShape="0" blurRad="76200" dist="25400" dir="8100000">
              <a:srgbClr val="000000">
                <a:alpha val="12000"/>
              </a:srgbClr>
            </a:outerShdw>
          </a:effectLst>
        </p:spPr>
      </p:sp>
      <p:sp>
        <p:nvSpPr>
          <p:cNvPr id="11" name="Text 9"/>
          <p:cNvSpPr/>
          <p:nvPr/>
        </p:nvSpPr>
        <p:spPr>
          <a:xfrm>
            <a:off x="594360" y="777240"/>
            <a:ext cx="1828800" cy="4114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EBM-NLP (text notes)</a:t>
            </a:r>
            <a:endParaRPr lang="en-US" sz="800" dirty="0"/>
          </a:p>
        </p:txBody>
      </p:sp>
      <p:sp>
        <p:nvSpPr>
          <p:cNvPr id="12" name="Shape 10"/>
          <p:cNvSpPr/>
          <p:nvPr/>
        </p:nvSpPr>
        <p:spPr>
          <a:xfrm>
            <a:off x="6720840" y="777240"/>
            <a:ext cx="2011680" cy="411480"/>
          </a:xfrm>
          <a:prstGeom prst="rect">
            <a:avLst/>
          </a:prstGeom>
          <a:solidFill>
            <a:srgbClr val="534AB7"/>
          </a:solidFill>
          <a:ln w="12700">
            <a:solidFill>
              <a:srgbClr val="534AB7"/>
            </a:solidFill>
            <a:prstDash val="solid"/>
          </a:ln>
          <a:effectLst>
            <a:outerShdw sx="100000" sy="100000" kx="0" ky="0" algn="bl" rotWithShape="0" blurRad="76200" dist="25400" dir="8100000">
              <a:srgbClr val="000000">
                <a:alpha val="12000"/>
              </a:srgbClr>
            </a:outerShdw>
          </a:effectLst>
        </p:spPr>
      </p:sp>
      <p:sp>
        <p:nvSpPr>
          <p:cNvPr id="13" name="Text 11"/>
          <p:cNvSpPr/>
          <p:nvPr/>
        </p:nvSpPr>
        <p:spPr>
          <a:xfrm>
            <a:off x="6720840" y="777240"/>
            <a:ext cx="2011680" cy="4114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Synthea CSVs (tabular)</a:t>
            </a:r>
            <a:endParaRPr lang="en-US" sz="800" dirty="0"/>
          </a:p>
        </p:txBody>
      </p:sp>
      <p:sp>
        <p:nvSpPr>
          <p:cNvPr id="14" name="Shape 12"/>
          <p:cNvSpPr/>
          <p:nvPr/>
        </p:nvSpPr>
        <p:spPr>
          <a:xfrm>
            <a:off x="2423160" y="978408"/>
            <a:ext cx="4297680" cy="0"/>
          </a:xfrm>
          <a:prstGeom prst="line">
            <a:avLst/>
          </a:prstGeom>
          <a:noFill/>
          <a:ln w="6350">
            <a:solidFill>
              <a:srgbClr val="028090"/>
            </a:solidFill>
            <a:prstDash val="dash"/>
          </a:ln>
        </p:spPr>
      </p:sp>
      <p:sp>
        <p:nvSpPr>
          <p:cNvPr id="15" name="Text 13"/>
          <p:cNvSpPr/>
          <p:nvPr/>
        </p:nvSpPr>
        <p:spPr>
          <a:xfrm>
            <a:off x="3291840" y="804672"/>
            <a:ext cx="2560320" cy="201168"/>
          </a:xfrm>
          <a:prstGeom prst="rect">
            <a:avLst/>
          </a:prstGeom>
          <a:noFill/>
          <a:ln/>
        </p:spPr>
        <p:txBody>
          <a:bodyPr wrap="square" lIns="0" tIns="0" rIns="0" bIns="0" rtlCol="0" anchor="ctr"/>
          <a:lstStyle/>
          <a:p>
            <a:pPr algn="ctr" indent="0" marL="0">
              <a:buNone/>
            </a:pPr>
            <a:r>
              <a:rPr lang="en-US" sz="700" i="1" dirty="0">
                <a:solidFill>
                  <a:srgbClr val="64748B"/>
                </a:solidFill>
                <a:latin typeface="Calibri" pitchFamily="34" charset="0"/>
                <a:ea typeface="Calibri" pitchFamily="34" charset="-122"/>
                <a:cs typeface="Calibri" pitchFamily="34" charset="-120"/>
              </a:rPr>
              <a:t>both used in CoT &amp; ToT</a:t>
            </a:r>
            <a:endParaRPr lang="en-US" sz="700" dirty="0"/>
          </a:p>
        </p:txBody>
      </p:sp>
      <p:sp>
        <p:nvSpPr>
          <p:cNvPr id="16" name="Shape 14"/>
          <p:cNvSpPr/>
          <p:nvPr/>
        </p:nvSpPr>
        <p:spPr>
          <a:xfrm>
            <a:off x="594360" y="1389888"/>
            <a:ext cx="1828800" cy="411480"/>
          </a:xfrm>
          <a:prstGeom prst="rect">
            <a:avLst/>
          </a:prstGeom>
          <a:solidFill>
            <a:srgbClr val="028090"/>
          </a:solidFill>
          <a:ln w="12700">
            <a:solidFill>
              <a:srgbClr val="028090"/>
            </a:solidFill>
            <a:prstDash val="solid"/>
          </a:ln>
        </p:spPr>
      </p:sp>
      <p:sp>
        <p:nvSpPr>
          <p:cNvPr id="17" name="Text 15"/>
          <p:cNvSpPr/>
          <p:nvPr/>
        </p:nvSpPr>
        <p:spPr>
          <a:xfrm>
            <a:off x="594360" y="1389888"/>
            <a:ext cx="1828800" cy="41148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Load text → Python list</a:t>
            </a:r>
            <a:endParaRPr lang="en-US" sz="750" dirty="0"/>
          </a:p>
        </p:txBody>
      </p:sp>
      <p:sp>
        <p:nvSpPr>
          <p:cNvPr id="18" name="Shape 16"/>
          <p:cNvSpPr/>
          <p:nvPr/>
        </p:nvSpPr>
        <p:spPr>
          <a:xfrm>
            <a:off x="6720840" y="1389888"/>
            <a:ext cx="2011680" cy="411480"/>
          </a:xfrm>
          <a:prstGeom prst="rect">
            <a:avLst/>
          </a:prstGeom>
          <a:solidFill>
            <a:srgbClr val="534AB7"/>
          </a:solidFill>
          <a:ln w="12700">
            <a:solidFill>
              <a:srgbClr val="534AB7"/>
            </a:solidFill>
            <a:prstDash val="solid"/>
          </a:ln>
        </p:spPr>
      </p:sp>
      <p:sp>
        <p:nvSpPr>
          <p:cNvPr id="19" name="Text 17"/>
          <p:cNvSpPr/>
          <p:nvPr/>
        </p:nvSpPr>
        <p:spPr>
          <a:xfrm>
            <a:off x="6720840" y="1389888"/>
            <a:ext cx="2011680" cy="41148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Merge CSVs → patient profile</a:t>
            </a:r>
            <a:endParaRPr lang="en-US" sz="750" dirty="0"/>
          </a:p>
        </p:txBody>
      </p:sp>
      <p:sp>
        <p:nvSpPr>
          <p:cNvPr id="20" name="Shape 18"/>
          <p:cNvSpPr/>
          <p:nvPr/>
        </p:nvSpPr>
        <p:spPr>
          <a:xfrm>
            <a:off x="1508760" y="1188720"/>
            <a:ext cx="0" cy="201168"/>
          </a:xfrm>
          <a:prstGeom prst="line">
            <a:avLst/>
          </a:prstGeom>
          <a:noFill/>
          <a:ln w="10160">
            <a:solidFill>
              <a:srgbClr val="64748B"/>
            </a:solidFill>
            <a:prstDash val="solid"/>
          </a:ln>
        </p:spPr>
      </p:sp>
      <p:sp>
        <p:nvSpPr>
          <p:cNvPr id="21" name="Shape 19"/>
          <p:cNvSpPr/>
          <p:nvPr/>
        </p:nvSpPr>
        <p:spPr>
          <a:xfrm>
            <a:off x="7726680" y="1188720"/>
            <a:ext cx="0" cy="201168"/>
          </a:xfrm>
          <a:prstGeom prst="line">
            <a:avLst/>
          </a:prstGeom>
          <a:noFill/>
          <a:ln w="10160">
            <a:solidFill>
              <a:srgbClr val="64748B"/>
            </a:solidFill>
            <a:prstDash val="solid"/>
          </a:ln>
        </p:spPr>
      </p:sp>
      <p:sp>
        <p:nvSpPr>
          <p:cNvPr id="22" name="Shape 20"/>
          <p:cNvSpPr/>
          <p:nvPr/>
        </p:nvSpPr>
        <p:spPr>
          <a:xfrm>
            <a:off x="594360" y="2057400"/>
            <a:ext cx="2011680" cy="274320"/>
          </a:xfrm>
          <a:prstGeom prst="rect">
            <a:avLst/>
          </a:prstGeom>
          <a:solidFill>
            <a:srgbClr val="5F5E5A"/>
          </a:solidFill>
          <a:ln w="12700">
            <a:solidFill>
              <a:srgbClr val="5F5E5A"/>
            </a:solidFill>
            <a:prstDash val="solid"/>
          </a:ln>
        </p:spPr>
      </p:sp>
      <p:sp>
        <p:nvSpPr>
          <p:cNvPr id="23" name="Text 21"/>
          <p:cNvSpPr/>
          <p:nvPr/>
        </p:nvSpPr>
        <p:spPr>
          <a:xfrm>
            <a:off x="594360" y="2057400"/>
            <a:ext cx="201168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Zero-shot</a:t>
            </a:r>
            <a:endParaRPr lang="en-US" sz="800" dirty="0"/>
          </a:p>
        </p:txBody>
      </p:sp>
      <p:sp>
        <p:nvSpPr>
          <p:cNvPr id="24" name="Shape 22"/>
          <p:cNvSpPr/>
          <p:nvPr/>
        </p:nvSpPr>
        <p:spPr>
          <a:xfrm>
            <a:off x="594360" y="2331720"/>
            <a:ext cx="2011680" cy="640080"/>
          </a:xfrm>
          <a:prstGeom prst="rect">
            <a:avLst/>
          </a:prstGeom>
          <a:solidFill>
            <a:srgbClr val="F1F5F9"/>
          </a:solidFill>
          <a:ln w="12700">
            <a:solidFill>
              <a:srgbClr val="5F5E5A"/>
            </a:solidFill>
            <a:prstDash val="solid"/>
          </a:ln>
          <a:effectLst>
            <a:outerShdw sx="100000" sy="100000" kx="0" ky="0" algn="bl" rotWithShape="0" blurRad="76200" dist="25400" dir="8100000">
              <a:srgbClr val="000000">
                <a:alpha val="12000"/>
              </a:srgbClr>
            </a:outerShdw>
          </a:effectLst>
        </p:spPr>
      </p:sp>
      <p:sp>
        <p:nvSpPr>
          <p:cNvPr id="25" name="Text 23"/>
          <p:cNvSpPr/>
          <p:nvPr/>
        </p:nvSpPr>
        <p:spPr>
          <a:xfrm>
            <a:off x="640080" y="2359152"/>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clinical note</a:t>
            </a:r>
            <a:endParaRPr lang="en-US" sz="680" dirty="0"/>
          </a:p>
        </p:txBody>
      </p:sp>
      <p:sp>
        <p:nvSpPr>
          <p:cNvPr id="26" name="Text 24"/>
          <p:cNvSpPr/>
          <p:nvPr/>
        </p:nvSpPr>
        <p:spPr>
          <a:xfrm>
            <a:off x="640080" y="2478024"/>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 instruction:</a:t>
            </a:r>
            <a:endParaRPr lang="en-US" sz="680" dirty="0"/>
          </a:p>
        </p:txBody>
      </p:sp>
      <p:sp>
        <p:nvSpPr>
          <p:cNvPr id="27" name="Text 25"/>
          <p:cNvSpPr/>
          <p:nvPr/>
        </p:nvSpPr>
        <p:spPr>
          <a:xfrm>
            <a:off x="640080" y="2596896"/>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  simplify for X level</a:t>
            </a:r>
            <a:endParaRPr lang="en-US" sz="680" dirty="0"/>
          </a:p>
        </p:txBody>
      </p:sp>
      <p:sp>
        <p:nvSpPr>
          <p:cNvPr id="28" name="Text 26"/>
          <p:cNvSpPr/>
          <p:nvPr/>
        </p:nvSpPr>
        <p:spPr>
          <a:xfrm>
            <a:off x="640080" y="2715768"/>
            <a:ext cx="1920240" cy="128016"/>
          </a:xfrm>
          <a:prstGeom prst="rect">
            <a:avLst/>
          </a:prstGeom>
          <a:noFill/>
          <a:ln/>
        </p:spPr>
        <p:txBody>
          <a:bodyPr wrap="square" lIns="0" tIns="0" rIns="0" bIns="0" rtlCol="0" anchor="ctr"/>
          <a:lstStyle/>
          <a:p>
            <a:pPr indent="0" marL="0">
              <a:buNone/>
            </a:pPr>
            <a:endParaRPr lang="en-US" sz="680" dirty="0"/>
          </a:p>
        </p:txBody>
      </p:sp>
      <p:sp>
        <p:nvSpPr>
          <p:cNvPr id="29" name="Text 27"/>
          <p:cNvSpPr/>
          <p:nvPr/>
        </p:nvSpPr>
        <p:spPr>
          <a:xfrm>
            <a:off x="640080" y="2834640"/>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(no examples)</a:t>
            </a:r>
            <a:endParaRPr lang="en-US" sz="680" dirty="0"/>
          </a:p>
        </p:txBody>
      </p:sp>
      <p:sp>
        <p:nvSpPr>
          <p:cNvPr id="30" name="Shape 28"/>
          <p:cNvSpPr/>
          <p:nvPr/>
        </p:nvSpPr>
        <p:spPr>
          <a:xfrm>
            <a:off x="1600200" y="2971800"/>
            <a:ext cx="0" cy="109728"/>
          </a:xfrm>
          <a:prstGeom prst="line">
            <a:avLst/>
          </a:prstGeom>
          <a:noFill/>
          <a:ln w="10160">
            <a:solidFill>
              <a:srgbClr val="64748B"/>
            </a:solidFill>
            <a:prstDash val="solid"/>
          </a:ln>
        </p:spPr>
      </p:sp>
      <p:sp>
        <p:nvSpPr>
          <p:cNvPr id="31" name="Shape 29"/>
          <p:cNvSpPr/>
          <p:nvPr/>
        </p:nvSpPr>
        <p:spPr>
          <a:xfrm>
            <a:off x="2697480" y="2057400"/>
            <a:ext cx="2011680" cy="274320"/>
          </a:xfrm>
          <a:prstGeom prst="rect">
            <a:avLst/>
          </a:prstGeom>
          <a:solidFill>
            <a:srgbClr val="028090"/>
          </a:solidFill>
          <a:ln w="12700">
            <a:solidFill>
              <a:srgbClr val="028090"/>
            </a:solidFill>
            <a:prstDash val="solid"/>
          </a:ln>
        </p:spPr>
      </p:sp>
      <p:sp>
        <p:nvSpPr>
          <p:cNvPr id="32" name="Text 30"/>
          <p:cNvSpPr/>
          <p:nvPr/>
        </p:nvSpPr>
        <p:spPr>
          <a:xfrm>
            <a:off x="2697480" y="2057400"/>
            <a:ext cx="201168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Few-shot / ICL</a:t>
            </a:r>
            <a:endParaRPr lang="en-US" sz="800" dirty="0"/>
          </a:p>
        </p:txBody>
      </p:sp>
      <p:sp>
        <p:nvSpPr>
          <p:cNvPr id="33" name="Shape 31"/>
          <p:cNvSpPr/>
          <p:nvPr/>
        </p:nvSpPr>
        <p:spPr>
          <a:xfrm>
            <a:off x="2697480" y="2331720"/>
            <a:ext cx="2011680" cy="640080"/>
          </a:xfrm>
          <a:prstGeom prst="rect">
            <a:avLst/>
          </a:prstGeom>
          <a:solidFill>
            <a:srgbClr val="CCFBF1"/>
          </a:solidFill>
          <a:ln w="12700">
            <a:solidFill>
              <a:srgbClr val="028090"/>
            </a:solidFill>
            <a:prstDash val="solid"/>
          </a:ln>
          <a:effectLst>
            <a:outerShdw sx="100000" sy="100000" kx="0" ky="0" algn="bl" rotWithShape="0" blurRad="76200" dist="25400" dir="8100000">
              <a:srgbClr val="000000">
                <a:alpha val="12000"/>
              </a:srgbClr>
            </a:outerShdw>
          </a:effectLst>
        </p:spPr>
      </p:sp>
      <p:sp>
        <p:nvSpPr>
          <p:cNvPr id="34" name="Text 32"/>
          <p:cNvSpPr/>
          <p:nvPr/>
        </p:nvSpPr>
        <p:spPr>
          <a:xfrm>
            <a:off x="2743200" y="2359152"/>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clinical note</a:t>
            </a:r>
            <a:endParaRPr lang="en-US" sz="680" dirty="0"/>
          </a:p>
        </p:txBody>
      </p:sp>
      <p:sp>
        <p:nvSpPr>
          <p:cNvPr id="35" name="Text 33"/>
          <p:cNvSpPr/>
          <p:nvPr/>
        </p:nvSpPr>
        <p:spPr>
          <a:xfrm>
            <a:off x="2743200" y="2478024"/>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 instruction</a:t>
            </a:r>
            <a:endParaRPr lang="en-US" sz="680" dirty="0"/>
          </a:p>
        </p:txBody>
      </p:sp>
      <p:sp>
        <p:nvSpPr>
          <p:cNvPr id="36" name="Text 34"/>
          <p:cNvSpPr/>
          <p:nvPr/>
        </p:nvSpPr>
        <p:spPr>
          <a:xfrm>
            <a:off x="2743200" y="2596896"/>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 example 1</a:t>
            </a:r>
            <a:endParaRPr lang="en-US" sz="680" dirty="0"/>
          </a:p>
        </p:txBody>
      </p:sp>
      <p:sp>
        <p:nvSpPr>
          <p:cNvPr id="37" name="Text 35"/>
          <p:cNvSpPr/>
          <p:nvPr/>
        </p:nvSpPr>
        <p:spPr>
          <a:xfrm>
            <a:off x="2743200" y="2715768"/>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 example 2</a:t>
            </a:r>
            <a:endParaRPr lang="en-US" sz="680" dirty="0"/>
          </a:p>
        </p:txBody>
      </p:sp>
      <p:sp>
        <p:nvSpPr>
          <p:cNvPr id="38" name="Text 36"/>
          <p:cNvSpPr/>
          <p:nvPr/>
        </p:nvSpPr>
        <p:spPr>
          <a:xfrm>
            <a:off x="2743200" y="2834640"/>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(2 demonstrations)</a:t>
            </a:r>
            <a:endParaRPr lang="en-US" sz="680" dirty="0"/>
          </a:p>
        </p:txBody>
      </p:sp>
      <p:sp>
        <p:nvSpPr>
          <p:cNvPr id="39" name="Shape 37"/>
          <p:cNvSpPr/>
          <p:nvPr/>
        </p:nvSpPr>
        <p:spPr>
          <a:xfrm>
            <a:off x="3703320" y="2971800"/>
            <a:ext cx="0" cy="109728"/>
          </a:xfrm>
          <a:prstGeom prst="line">
            <a:avLst/>
          </a:prstGeom>
          <a:noFill/>
          <a:ln w="10160">
            <a:solidFill>
              <a:srgbClr val="64748B"/>
            </a:solidFill>
            <a:prstDash val="solid"/>
          </a:ln>
        </p:spPr>
      </p:sp>
      <p:sp>
        <p:nvSpPr>
          <p:cNvPr id="40" name="Shape 38"/>
          <p:cNvSpPr/>
          <p:nvPr/>
        </p:nvSpPr>
        <p:spPr>
          <a:xfrm>
            <a:off x="4800600" y="2057400"/>
            <a:ext cx="2011680" cy="274320"/>
          </a:xfrm>
          <a:prstGeom prst="rect">
            <a:avLst/>
          </a:prstGeom>
          <a:solidFill>
            <a:srgbClr val="534AB7"/>
          </a:solidFill>
          <a:ln w="12700">
            <a:solidFill>
              <a:srgbClr val="534AB7"/>
            </a:solidFill>
            <a:prstDash val="solid"/>
          </a:ln>
        </p:spPr>
      </p:sp>
      <p:sp>
        <p:nvSpPr>
          <p:cNvPr id="41" name="Text 39"/>
          <p:cNvSpPr/>
          <p:nvPr/>
        </p:nvSpPr>
        <p:spPr>
          <a:xfrm>
            <a:off x="4800600" y="2057400"/>
            <a:ext cx="201168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Chain-of-Thought</a:t>
            </a:r>
            <a:endParaRPr lang="en-US" sz="800" dirty="0"/>
          </a:p>
        </p:txBody>
      </p:sp>
      <p:sp>
        <p:nvSpPr>
          <p:cNvPr id="42" name="Shape 40"/>
          <p:cNvSpPr/>
          <p:nvPr/>
        </p:nvSpPr>
        <p:spPr>
          <a:xfrm>
            <a:off x="4800600" y="2331720"/>
            <a:ext cx="2011680" cy="640080"/>
          </a:xfrm>
          <a:prstGeom prst="rect">
            <a:avLst/>
          </a:prstGeom>
          <a:solidFill>
            <a:srgbClr val="EDE9FE"/>
          </a:solidFill>
          <a:ln w="12700">
            <a:solidFill>
              <a:srgbClr val="534AB7"/>
            </a:solidFill>
            <a:prstDash val="solid"/>
          </a:ln>
          <a:effectLst>
            <a:outerShdw sx="100000" sy="100000" kx="0" ky="0" algn="bl" rotWithShape="0" blurRad="76200" dist="25400" dir="8100000">
              <a:srgbClr val="000000">
                <a:alpha val="12000"/>
              </a:srgbClr>
            </a:outerShdw>
          </a:effectLst>
        </p:spPr>
      </p:sp>
      <p:sp>
        <p:nvSpPr>
          <p:cNvPr id="43" name="Text 41"/>
          <p:cNvSpPr/>
          <p:nvPr/>
        </p:nvSpPr>
        <p:spPr>
          <a:xfrm>
            <a:off x="4846320" y="2359152"/>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note + instruction</a:t>
            </a:r>
            <a:endParaRPr lang="en-US" sz="680" dirty="0"/>
          </a:p>
        </p:txBody>
      </p:sp>
      <p:sp>
        <p:nvSpPr>
          <p:cNvPr id="44" name="Text 42"/>
          <p:cNvSpPr/>
          <p:nvPr/>
        </p:nvSpPr>
        <p:spPr>
          <a:xfrm>
            <a:off x="4846320" y="2478024"/>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 step 1: identify terms</a:t>
            </a:r>
            <a:endParaRPr lang="en-US" sz="680" dirty="0"/>
          </a:p>
        </p:txBody>
      </p:sp>
      <p:sp>
        <p:nvSpPr>
          <p:cNvPr id="45" name="Text 43"/>
          <p:cNvSpPr/>
          <p:nvPr/>
        </p:nvSpPr>
        <p:spPr>
          <a:xfrm>
            <a:off x="4846320" y="2596896"/>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 step 2: explain terms</a:t>
            </a:r>
            <a:endParaRPr lang="en-US" sz="680" dirty="0"/>
          </a:p>
        </p:txBody>
      </p:sp>
      <p:sp>
        <p:nvSpPr>
          <p:cNvPr id="46" name="Text 44"/>
          <p:cNvSpPr/>
          <p:nvPr/>
        </p:nvSpPr>
        <p:spPr>
          <a:xfrm>
            <a:off x="4846320" y="2715768"/>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 step 3: key message</a:t>
            </a:r>
            <a:endParaRPr lang="en-US" sz="680" dirty="0"/>
          </a:p>
        </p:txBody>
      </p:sp>
      <p:sp>
        <p:nvSpPr>
          <p:cNvPr id="47" name="Text 45"/>
          <p:cNvSpPr/>
          <p:nvPr/>
        </p:nvSpPr>
        <p:spPr>
          <a:xfrm>
            <a:off x="4846320" y="2834640"/>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(reasoning chain)</a:t>
            </a:r>
            <a:endParaRPr lang="en-US" sz="680" dirty="0"/>
          </a:p>
        </p:txBody>
      </p:sp>
      <p:sp>
        <p:nvSpPr>
          <p:cNvPr id="48" name="Shape 46"/>
          <p:cNvSpPr/>
          <p:nvPr/>
        </p:nvSpPr>
        <p:spPr>
          <a:xfrm>
            <a:off x="5806440" y="2971800"/>
            <a:ext cx="0" cy="109728"/>
          </a:xfrm>
          <a:prstGeom prst="line">
            <a:avLst/>
          </a:prstGeom>
          <a:noFill/>
          <a:ln w="10160">
            <a:solidFill>
              <a:srgbClr val="64748B"/>
            </a:solidFill>
            <a:prstDash val="solid"/>
          </a:ln>
        </p:spPr>
      </p:sp>
      <p:sp>
        <p:nvSpPr>
          <p:cNvPr id="49" name="Shape 47"/>
          <p:cNvSpPr/>
          <p:nvPr/>
        </p:nvSpPr>
        <p:spPr>
          <a:xfrm>
            <a:off x="6720840" y="2057400"/>
            <a:ext cx="2011680" cy="274320"/>
          </a:xfrm>
          <a:prstGeom prst="rect">
            <a:avLst/>
          </a:prstGeom>
          <a:solidFill>
            <a:srgbClr val="B45309"/>
          </a:solidFill>
          <a:ln w="12700">
            <a:solidFill>
              <a:srgbClr val="B45309"/>
            </a:solidFill>
            <a:prstDash val="solid"/>
          </a:ln>
        </p:spPr>
      </p:sp>
      <p:sp>
        <p:nvSpPr>
          <p:cNvPr id="50" name="Text 48"/>
          <p:cNvSpPr/>
          <p:nvPr/>
        </p:nvSpPr>
        <p:spPr>
          <a:xfrm>
            <a:off x="6720840" y="2057400"/>
            <a:ext cx="201168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Tree-of-Thought</a:t>
            </a:r>
            <a:endParaRPr lang="en-US" sz="800" dirty="0"/>
          </a:p>
        </p:txBody>
      </p:sp>
      <p:sp>
        <p:nvSpPr>
          <p:cNvPr id="51" name="Shape 49"/>
          <p:cNvSpPr/>
          <p:nvPr/>
        </p:nvSpPr>
        <p:spPr>
          <a:xfrm>
            <a:off x="6720840" y="2331720"/>
            <a:ext cx="2011680" cy="640080"/>
          </a:xfrm>
          <a:prstGeom prst="rect">
            <a:avLst/>
          </a:prstGeom>
          <a:solidFill>
            <a:srgbClr val="FEF3C7"/>
          </a:solidFill>
          <a:ln w="12700">
            <a:solidFill>
              <a:srgbClr val="B45309"/>
            </a:solidFill>
            <a:prstDash val="solid"/>
          </a:ln>
          <a:effectLst>
            <a:outerShdw sx="100000" sy="100000" kx="0" ky="0" algn="bl" rotWithShape="0" blurRad="76200" dist="25400" dir="8100000">
              <a:srgbClr val="000000">
                <a:alpha val="12000"/>
              </a:srgbClr>
            </a:outerShdw>
          </a:effectLst>
        </p:spPr>
      </p:sp>
      <p:sp>
        <p:nvSpPr>
          <p:cNvPr id="52" name="Text 50"/>
          <p:cNvSpPr/>
          <p:nvPr/>
        </p:nvSpPr>
        <p:spPr>
          <a:xfrm>
            <a:off x="6766560" y="2359152"/>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note + instruction</a:t>
            </a:r>
            <a:endParaRPr lang="en-US" sz="680" dirty="0"/>
          </a:p>
        </p:txBody>
      </p:sp>
      <p:sp>
        <p:nvSpPr>
          <p:cNvPr id="53" name="Text 51"/>
          <p:cNvSpPr/>
          <p:nvPr/>
        </p:nvSpPr>
        <p:spPr>
          <a:xfrm>
            <a:off x="6766560" y="2478024"/>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 expert 1 path</a:t>
            </a:r>
            <a:endParaRPr lang="en-US" sz="680" dirty="0"/>
          </a:p>
        </p:txBody>
      </p:sp>
      <p:sp>
        <p:nvSpPr>
          <p:cNvPr id="54" name="Text 52"/>
          <p:cNvSpPr/>
          <p:nvPr/>
        </p:nvSpPr>
        <p:spPr>
          <a:xfrm>
            <a:off x="6766560" y="2596896"/>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 expert 2 path</a:t>
            </a:r>
            <a:endParaRPr lang="en-US" sz="680" dirty="0"/>
          </a:p>
        </p:txBody>
      </p:sp>
      <p:sp>
        <p:nvSpPr>
          <p:cNvPr id="55" name="Text 53"/>
          <p:cNvSpPr/>
          <p:nvPr/>
        </p:nvSpPr>
        <p:spPr>
          <a:xfrm>
            <a:off x="6766560" y="2715768"/>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 expert 3 path</a:t>
            </a:r>
            <a:endParaRPr lang="en-US" sz="680" dirty="0"/>
          </a:p>
        </p:txBody>
      </p:sp>
      <p:sp>
        <p:nvSpPr>
          <p:cNvPr id="56" name="Text 54"/>
          <p:cNvSpPr/>
          <p:nvPr/>
        </p:nvSpPr>
        <p:spPr>
          <a:xfrm>
            <a:off x="6766560" y="2834640"/>
            <a:ext cx="1920240" cy="128016"/>
          </a:xfrm>
          <a:prstGeom prst="rect">
            <a:avLst/>
          </a:prstGeom>
          <a:noFill/>
          <a:ln/>
        </p:spPr>
        <p:txBody>
          <a:bodyPr wrap="square" lIns="0" tIns="0" rIns="0" bIns="0" rtlCol="0" anchor="ctr"/>
          <a:lstStyle/>
          <a:p>
            <a:pPr indent="0" marL="0">
              <a:buNone/>
            </a:pPr>
            <a:r>
              <a:rPr lang="en-US" sz="680" dirty="0">
                <a:solidFill>
                  <a:srgbClr val="1E293B"/>
                </a:solidFill>
                <a:latin typeface="Calibri" pitchFamily="34" charset="0"/>
                <a:ea typeface="Calibri" pitchFamily="34" charset="-122"/>
                <a:cs typeface="Calibri" pitchFamily="34" charset="-120"/>
              </a:rPr>
              <a:t>(rate &amp; pick best)</a:t>
            </a:r>
            <a:endParaRPr lang="en-US" sz="680" dirty="0"/>
          </a:p>
        </p:txBody>
      </p:sp>
      <p:sp>
        <p:nvSpPr>
          <p:cNvPr id="57" name="Shape 55"/>
          <p:cNvSpPr/>
          <p:nvPr/>
        </p:nvSpPr>
        <p:spPr>
          <a:xfrm>
            <a:off x="7726680" y="2971800"/>
            <a:ext cx="0" cy="109728"/>
          </a:xfrm>
          <a:prstGeom prst="line">
            <a:avLst/>
          </a:prstGeom>
          <a:noFill/>
          <a:ln w="10160">
            <a:solidFill>
              <a:srgbClr val="64748B"/>
            </a:solidFill>
            <a:prstDash val="solid"/>
          </a:ln>
        </p:spPr>
      </p:sp>
      <p:sp>
        <p:nvSpPr>
          <p:cNvPr id="58" name="Shape 56"/>
          <p:cNvSpPr/>
          <p:nvPr/>
        </p:nvSpPr>
        <p:spPr>
          <a:xfrm>
            <a:off x="566928" y="3063240"/>
            <a:ext cx="8193024" cy="457200"/>
          </a:xfrm>
          <a:prstGeom prst="rect">
            <a:avLst/>
          </a:prstGeom>
          <a:solidFill>
            <a:srgbClr val="D97706"/>
          </a:solidFill>
          <a:ln w="12700">
            <a:solidFill>
              <a:srgbClr val="D97706"/>
            </a:solidFill>
            <a:prstDash val="solid"/>
          </a:ln>
          <a:effectLst>
            <a:outerShdw sx="100000" sy="100000" kx="0" ky="0" algn="bl" rotWithShape="0" blurRad="76200" dist="25400" dir="8100000">
              <a:srgbClr val="000000">
                <a:alpha val="12000"/>
              </a:srgbClr>
            </a:outerShdw>
          </a:effectLst>
        </p:spPr>
      </p:sp>
      <p:sp>
        <p:nvSpPr>
          <p:cNvPr id="59" name="Text 57"/>
          <p:cNvSpPr/>
          <p:nvPr/>
        </p:nvSpPr>
        <p:spPr>
          <a:xfrm>
            <a:off x="594360" y="3063240"/>
            <a:ext cx="813816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GPT API Call 1 — gpt-3.5-turbo  |  client.chat.completions.create()  |  temp=0.3  |  max_tokens=300–800  |  API key via Colab Secrets</a:t>
            </a:r>
            <a:endParaRPr lang="en-US" sz="800" dirty="0"/>
          </a:p>
        </p:txBody>
      </p:sp>
      <p:sp>
        <p:nvSpPr>
          <p:cNvPr id="60" name="Shape 58"/>
          <p:cNvSpPr/>
          <p:nvPr/>
        </p:nvSpPr>
        <p:spPr>
          <a:xfrm>
            <a:off x="4663440" y="3520440"/>
            <a:ext cx="0" cy="182880"/>
          </a:xfrm>
          <a:prstGeom prst="line">
            <a:avLst/>
          </a:prstGeom>
          <a:noFill/>
          <a:ln w="10160">
            <a:solidFill>
              <a:srgbClr val="64748B"/>
            </a:solidFill>
            <a:prstDash val="solid"/>
          </a:ln>
        </p:spPr>
      </p:sp>
      <p:sp>
        <p:nvSpPr>
          <p:cNvPr id="61" name="Shape 59"/>
          <p:cNvSpPr/>
          <p:nvPr/>
        </p:nvSpPr>
        <p:spPr>
          <a:xfrm>
            <a:off x="594360" y="3703320"/>
            <a:ext cx="2560320" cy="411480"/>
          </a:xfrm>
          <a:prstGeom prst="rect">
            <a:avLst/>
          </a:prstGeom>
          <a:solidFill>
            <a:srgbClr val="028090"/>
          </a:solidFill>
          <a:ln w="12700">
            <a:solidFill>
              <a:srgbClr val="028090"/>
            </a:solidFill>
            <a:prstDash val="solid"/>
          </a:ln>
          <a:effectLst>
            <a:outerShdw sx="100000" sy="100000" kx="0" ky="0" algn="bl" rotWithShape="0" blurRad="76200" dist="25400" dir="8100000">
              <a:srgbClr val="000000">
                <a:alpha val="12000"/>
              </a:srgbClr>
            </a:outerShdw>
          </a:effectLst>
        </p:spPr>
      </p:sp>
      <p:sp>
        <p:nvSpPr>
          <p:cNvPr id="62" name="Text 60"/>
          <p:cNvSpPr/>
          <p:nvPr/>
        </p:nvSpPr>
        <p:spPr>
          <a:xfrm>
            <a:off x="594360" y="3703320"/>
            <a:ext cx="2560320" cy="4114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5th grade — simple words, no jargon</a:t>
            </a:r>
            <a:endParaRPr lang="en-US" sz="800" dirty="0"/>
          </a:p>
        </p:txBody>
      </p:sp>
      <p:sp>
        <p:nvSpPr>
          <p:cNvPr id="63" name="Shape 61"/>
          <p:cNvSpPr/>
          <p:nvPr/>
        </p:nvSpPr>
        <p:spPr>
          <a:xfrm>
            <a:off x="1874520" y="4114800"/>
            <a:ext cx="0" cy="182880"/>
          </a:xfrm>
          <a:prstGeom prst="line">
            <a:avLst/>
          </a:prstGeom>
          <a:noFill/>
          <a:ln w="10160">
            <a:solidFill>
              <a:srgbClr val="64748B"/>
            </a:solidFill>
            <a:prstDash val="solid"/>
          </a:ln>
        </p:spPr>
      </p:sp>
      <p:sp>
        <p:nvSpPr>
          <p:cNvPr id="64" name="Shape 62"/>
          <p:cNvSpPr/>
          <p:nvPr/>
        </p:nvSpPr>
        <p:spPr>
          <a:xfrm>
            <a:off x="3246120" y="3703320"/>
            <a:ext cx="2560320" cy="411480"/>
          </a:xfrm>
          <a:prstGeom prst="rect">
            <a:avLst/>
          </a:prstGeom>
          <a:solidFill>
            <a:srgbClr val="534AB7"/>
          </a:solidFill>
          <a:ln w="12700">
            <a:solidFill>
              <a:srgbClr val="534AB7"/>
            </a:solidFill>
            <a:prstDash val="solid"/>
          </a:ln>
          <a:effectLst>
            <a:outerShdw sx="100000" sy="100000" kx="0" ky="0" algn="bl" rotWithShape="0" blurRad="76200" dist="25400" dir="8100000">
              <a:srgbClr val="000000">
                <a:alpha val="12000"/>
              </a:srgbClr>
            </a:outerShdw>
          </a:effectLst>
        </p:spPr>
      </p:sp>
      <p:sp>
        <p:nvSpPr>
          <p:cNvPr id="65" name="Text 63"/>
          <p:cNvSpPr/>
          <p:nvPr/>
        </p:nvSpPr>
        <p:spPr>
          <a:xfrm>
            <a:off x="3246120" y="3703320"/>
            <a:ext cx="2560320" cy="4114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High school — some terms, explained</a:t>
            </a:r>
            <a:endParaRPr lang="en-US" sz="800" dirty="0"/>
          </a:p>
        </p:txBody>
      </p:sp>
      <p:sp>
        <p:nvSpPr>
          <p:cNvPr id="66" name="Shape 64"/>
          <p:cNvSpPr/>
          <p:nvPr/>
        </p:nvSpPr>
        <p:spPr>
          <a:xfrm>
            <a:off x="4526280" y="4114800"/>
            <a:ext cx="0" cy="182880"/>
          </a:xfrm>
          <a:prstGeom prst="line">
            <a:avLst/>
          </a:prstGeom>
          <a:noFill/>
          <a:ln w="10160">
            <a:solidFill>
              <a:srgbClr val="64748B"/>
            </a:solidFill>
            <a:prstDash val="solid"/>
          </a:ln>
        </p:spPr>
      </p:sp>
      <p:sp>
        <p:nvSpPr>
          <p:cNvPr id="67" name="Shape 65"/>
          <p:cNvSpPr/>
          <p:nvPr/>
        </p:nvSpPr>
        <p:spPr>
          <a:xfrm>
            <a:off x="5897880" y="3703320"/>
            <a:ext cx="2560320" cy="411480"/>
          </a:xfrm>
          <a:prstGeom prst="rect">
            <a:avLst/>
          </a:prstGeom>
          <a:solidFill>
            <a:srgbClr val="64748B"/>
          </a:solidFill>
          <a:ln w="12700">
            <a:solidFill>
              <a:srgbClr val="64748B"/>
            </a:solidFill>
            <a:prstDash val="solid"/>
          </a:ln>
          <a:effectLst>
            <a:outerShdw sx="100000" sy="100000" kx="0" ky="0" algn="bl" rotWithShape="0" blurRad="76200" dist="25400" dir="8100000">
              <a:srgbClr val="000000">
                <a:alpha val="12000"/>
              </a:srgbClr>
            </a:outerShdw>
          </a:effectLst>
        </p:spPr>
      </p:sp>
      <p:sp>
        <p:nvSpPr>
          <p:cNvPr id="68" name="Text 66"/>
          <p:cNvSpPr/>
          <p:nvPr/>
        </p:nvSpPr>
        <p:spPr>
          <a:xfrm>
            <a:off x="5897880" y="3703320"/>
            <a:ext cx="2560320" cy="4114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Medical pro — structured bullets</a:t>
            </a:r>
            <a:endParaRPr lang="en-US" sz="800" dirty="0"/>
          </a:p>
        </p:txBody>
      </p:sp>
      <p:sp>
        <p:nvSpPr>
          <p:cNvPr id="69" name="Shape 67"/>
          <p:cNvSpPr/>
          <p:nvPr/>
        </p:nvSpPr>
        <p:spPr>
          <a:xfrm>
            <a:off x="7178040" y="4114800"/>
            <a:ext cx="0" cy="182880"/>
          </a:xfrm>
          <a:prstGeom prst="line">
            <a:avLst/>
          </a:prstGeom>
          <a:noFill/>
          <a:ln w="10160">
            <a:solidFill>
              <a:srgbClr val="64748B"/>
            </a:solidFill>
            <a:prstDash val="solid"/>
          </a:ln>
        </p:spPr>
      </p:sp>
      <p:sp>
        <p:nvSpPr>
          <p:cNvPr id="70" name="Shape 68"/>
          <p:cNvSpPr/>
          <p:nvPr/>
        </p:nvSpPr>
        <p:spPr>
          <a:xfrm>
            <a:off x="566928" y="4297680"/>
            <a:ext cx="8193024" cy="411480"/>
          </a:xfrm>
          <a:prstGeom prst="rect">
            <a:avLst/>
          </a:prstGeom>
          <a:solidFill>
            <a:srgbClr val="D97706"/>
          </a:solidFill>
          <a:ln w="12700">
            <a:solidFill>
              <a:srgbClr val="D97706"/>
            </a:solidFill>
            <a:prstDash val="solid"/>
          </a:ln>
          <a:effectLst>
            <a:outerShdw sx="100000" sy="100000" kx="0" ky="0" algn="bl" rotWithShape="0" blurRad="76200" dist="25400" dir="8100000">
              <a:srgbClr val="000000">
                <a:alpha val="12000"/>
              </a:srgbClr>
            </a:outerShdw>
          </a:effectLst>
        </p:spPr>
      </p:sp>
      <p:sp>
        <p:nvSpPr>
          <p:cNvPr id="71" name="Text 69"/>
          <p:cNvSpPr/>
          <p:nvPr/>
        </p:nvSpPr>
        <p:spPr>
          <a:xfrm>
            <a:off x="594360" y="4297680"/>
            <a:ext cx="8138160" cy="4114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  GPT API Call 2 — LLM-as-Judge  |  input: original note + simplified output + score rubric  |  output: JSON → clarity / accuracy / appropriateness (1–10)</a:t>
            </a:r>
            <a:endParaRPr lang="en-US" sz="750" dirty="0"/>
          </a:p>
        </p:txBody>
      </p:sp>
      <p:sp>
        <p:nvSpPr>
          <p:cNvPr id="72" name="Shape 70"/>
          <p:cNvSpPr/>
          <p:nvPr/>
        </p:nvSpPr>
        <p:spPr>
          <a:xfrm>
            <a:off x="5943600" y="4892040"/>
            <a:ext cx="164592" cy="109728"/>
          </a:xfrm>
          <a:prstGeom prst="rect">
            <a:avLst/>
          </a:prstGeom>
          <a:solidFill>
            <a:srgbClr val="D97706"/>
          </a:solidFill>
          <a:ln w="12700">
            <a:solidFill>
              <a:srgbClr val="D97706"/>
            </a:solidFill>
            <a:prstDash val="solid"/>
          </a:ln>
        </p:spPr>
      </p:sp>
      <p:sp>
        <p:nvSpPr>
          <p:cNvPr id="73" name="Text 71"/>
          <p:cNvSpPr/>
          <p:nvPr/>
        </p:nvSpPr>
        <p:spPr>
          <a:xfrm>
            <a:off x="6144768" y="4882896"/>
            <a:ext cx="1371600" cy="137160"/>
          </a:xfrm>
          <a:prstGeom prst="rect">
            <a:avLst/>
          </a:prstGeom>
          <a:noFill/>
          <a:ln/>
        </p:spPr>
        <p:txBody>
          <a:bodyPr wrap="square" lIns="0" tIns="0" rIns="0" bIns="0" rtlCol="0" anchor="ctr"/>
          <a:lstStyle/>
          <a:p>
            <a:pPr indent="0" marL="0">
              <a:buNone/>
            </a:pPr>
            <a:r>
              <a:rPr lang="en-US" sz="700" dirty="0">
                <a:solidFill>
                  <a:srgbClr val="FFFFFF"/>
                </a:solidFill>
                <a:latin typeface="Calibri" pitchFamily="34" charset="0"/>
                <a:ea typeface="Calibri" pitchFamily="34" charset="-122"/>
                <a:cs typeface="Calibri" pitchFamily="34" charset="-120"/>
              </a:rPr>
              <a:t>= GPT API call</a:t>
            </a:r>
            <a:endParaRPr lang="en-US" sz="700" dirty="0"/>
          </a:p>
        </p:txBody>
      </p:sp>
      <p:sp>
        <p:nvSpPr>
          <p:cNvPr id="74" name="Shape 72"/>
          <p:cNvSpPr/>
          <p:nvPr/>
        </p:nvSpPr>
        <p:spPr>
          <a:xfrm>
            <a:off x="0" y="4873752"/>
            <a:ext cx="9144000" cy="269748"/>
          </a:xfrm>
          <a:prstGeom prst="rect">
            <a:avLst/>
          </a:prstGeom>
          <a:solidFill>
            <a:srgbClr val="028090"/>
          </a:solidFill>
          <a:ln w="12700">
            <a:solidFill>
              <a:srgbClr val="028090"/>
            </a:solidFill>
            <a:prstDash val="solid"/>
          </a:ln>
        </p:spPr>
      </p:sp>
      <p:sp>
        <p:nvSpPr>
          <p:cNvPr id="75" name="Text 73"/>
          <p:cNvSpPr/>
          <p:nvPr/>
        </p:nvSpPr>
        <p:spPr>
          <a:xfrm>
            <a:off x="365760" y="4892040"/>
            <a:ext cx="82296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AI in Healthcare  |  Frahim Mohd  |  UT Austin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9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73152"/>
            <a:ext cx="8229600" cy="53035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Prompt Engineering Methods</a:t>
            </a:r>
            <a:endParaRPr lang="en-US" sz="2400" dirty="0"/>
          </a:p>
        </p:txBody>
      </p:sp>
      <p:sp>
        <p:nvSpPr>
          <p:cNvPr id="4" name="Shape 2"/>
          <p:cNvSpPr/>
          <p:nvPr/>
        </p:nvSpPr>
        <p:spPr>
          <a:xfrm>
            <a:off x="228600" y="822960"/>
            <a:ext cx="2011680" cy="329184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228600" y="822960"/>
            <a:ext cx="2011680" cy="457200"/>
          </a:xfrm>
          <a:prstGeom prst="rect">
            <a:avLst/>
          </a:prstGeom>
          <a:solidFill>
            <a:srgbClr val="64748B"/>
          </a:solidFill>
          <a:ln w="12700">
            <a:solidFill>
              <a:srgbClr val="64748B"/>
            </a:solidFill>
            <a:prstDash val="solid"/>
          </a:ln>
        </p:spPr>
      </p:sp>
      <p:sp>
        <p:nvSpPr>
          <p:cNvPr id="6" name="Text 4"/>
          <p:cNvSpPr/>
          <p:nvPr/>
        </p:nvSpPr>
        <p:spPr>
          <a:xfrm>
            <a:off x="228600" y="850392"/>
            <a:ext cx="2011680" cy="40233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228600" y="1325880"/>
            <a:ext cx="2011680" cy="365760"/>
          </a:xfrm>
          <a:prstGeom prst="rect">
            <a:avLst/>
          </a:prstGeom>
          <a:noFill/>
          <a:ln/>
        </p:spPr>
        <p:txBody>
          <a:bodyPr wrap="square" lIns="0" tIns="0" rIns="0" bIns="0" rtlCol="0" anchor="ctr"/>
          <a:lstStyle/>
          <a:p>
            <a:pPr algn="ctr" indent="0" marL="0">
              <a:buNone/>
            </a:pPr>
            <a:r>
              <a:rPr lang="en-US" sz="1200" b="1" dirty="0">
                <a:solidFill>
                  <a:srgbClr val="065A82"/>
                </a:solidFill>
                <a:latin typeface="Calibri" pitchFamily="34" charset="0"/>
                <a:ea typeface="Calibri" pitchFamily="34" charset="-122"/>
                <a:cs typeface="Calibri" pitchFamily="34" charset="-120"/>
              </a:rPr>
              <a:t>Zero-Shot</a:t>
            </a:r>
            <a:endParaRPr lang="en-US" sz="1200" dirty="0"/>
          </a:p>
        </p:txBody>
      </p:sp>
      <p:sp>
        <p:nvSpPr>
          <p:cNvPr id="8" name="Text 6"/>
          <p:cNvSpPr/>
          <p:nvPr/>
        </p:nvSpPr>
        <p:spPr>
          <a:xfrm>
            <a:off x="320040" y="1737360"/>
            <a:ext cx="1828800" cy="137160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No examples given. GPT relies purely on pre-trained knowledge. Used as our baseline to measure improvement.</a:t>
            </a:r>
            <a:endParaRPr lang="en-US" sz="950" dirty="0"/>
          </a:p>
        </p:txBody>
      </p:sp>
      <p:sp>
        <p:nvSpPr>
          <p:cNvPr id="9" name="Shape 7"/>
          <p:cNvSpPr/>
          <p:nvPr/>
        </p:nvSpPr>
        <p:spPr>
          <a:xfrm>
            <a:off x="320040" y="3154680"/>
            <a:ext cx="1828800" cy="256032"/>
          </a:xfrm>
          <a:prstGeom prst="rect">
            <a:avLst/>
          </a:prstGeom>
          <a:solidFill>
            <a:srgbClr val="E8F8F3"/>
          </a:solidFill>
          <a:ln w="12700">
            <a:solidFill>
              <a:srgbClr val="E8F8F3"/>
            </a:solidFill>
            <a:prstDash val="solid"/>
          </a:ln>
        </p:spPr>
      </p:sp>
      <p:sp>
        <p:nvSpPr>
          <p:cNvPr id="10" name="Text 8"/>
          <p:cNvSpPr/>
          <p:nvPr/>
        </p:nvSpPr>
        <p:spPr>
          <a:xfrm>
            <a:off x="320040" y="3154680"/>
            <a:ext cx="1828800" cy="256032"/>
          </a:xfrm>
          <a:prstGeom prst="rect">
            <a:avLst/>
          </a:prstGeom>
          <a:noFill/>
          <a:ln/>
        </p:spPr>
        <p:txBody>
          <a:bodyPr wrap="square" lIns="0" tIns="0" rIns="0" bIns="0" rtlCol="0" anchor="ctr"/>
          <a:lstStyle/>
          <a:p>
            <a:pPr indent="0" marL="0">
              <a:buNone/>
            </a:pPr>
            <a:r>
              <a:rPr lang="en-US" sz="900" b="1" dirty="0">
                <a:solidFill>
                  <a:srgbClr val="027A5F"/>
                </a:solidFill>
                <a:latin typeface="Calibri" pitchFamily="34" charset="0"/>
                <a:ea typeface="Calibri" pitchFamily="34" charset="-122"/>
                <a:cs typeface="Calibri" pitchFamily="34" charset="-120"/>
              </a:rPr>
              <a:t>✅ Fast &amp; simple</a:t>
            </a:r>
            <a:endParaRPr lang="en-US" sz="900" dirty="0"/>
          </a:p>
        </p:txBody>
      </p:sp>
      <p:sp>
        <p:nvSpPr>
          <p:cNvPr id="11" name="Shape 9"/>
          <p:cNvSpPr/>
          <p:nvPr/>
        </p:nvSpPr>
        <p:spPr>
          <a:xfrm>
            <a:off x="320040" y="3456432"/>
            <a:ext cx="1828800" cy="256032"/>
          </a:xfrm>
          <a:prstGeom prst="rect">
            <a:avLst/>
          </a:prstGeom>
          <a:solidFill>
            <a:srgbClr val="FEF0ED"/>
          </a:solidFill>
          <a:ln w="12700">
            <a:solidFill>
              <a:srgbClr val="FEF0ED"/>
            </a:solidFill>
            <a:prstDash val="solid"/>
          </a:ln>
        </p:spPr>
      </p:sp>
      <p:sp>
        <p:nvSpPr>
          <p:cNvPr id="12" name="Text 10"/>
          <p:cNvSpPr/>
          <p:nvPr/>
        </p:nvSpPr>
        <p:spPr>
          <a:xfrm>
            <a:off x="320040" y="3456432"/>
            <a:ext cx="1828800" cy="256032"/>
          </a:xfrm>
          <a:prstGeom prst="rect">
            <a:avLst/>
          </a:prstGeom>
          <a:noFill/>
          <a:ln/>
        </p:spPr>
        <p:txBody>
          <a:bodyPr wrap="square" lIns="0" tIns="0" rIns="0" bIns="0" rtlCol="0" anchor="ctr"/>
          <a:lstStyle/>
          <a:p>
            <a:pPr indent="0" marL="0">
              <a:buNone/>
            </a:pPr>
            <a:r>
              <a:rPr lang="en-US" sz="900" b="1" dirty="0">
                <a:solidFill>
                  <a:srgbClr val="9B2335"/>
                </a:solidFill>
                <a:latin typeface="Calibri" pitchFamily="34" charset="0"/>
                <a:ea typeface="Calibri" pitchFamily="34" charset="-122"/>
                <a:cs typeface="Calibri" pitchFamily="34" charset="-120"/>
              </a:rPr>
              <a:t>⚠️ Inconsistent output</a:t>
            </a:r>
            <a:endParaRPr lang="en-US" sz="900" dirty="0"/>
          </a:p>
        </p:txBody>
      </p:sp>
      <p:sp>
        <p:nvSpPr>
          <p:cNvPr id="13" name="Shape 11"/>
          <p:cNvSpPr/>
          <p:nvPr/>
        </p:nvSpPr>
        <p:spPr>
          <a:xfrm>
            <a:off x="2441448" y="822960"/>
            <a:ext cx="2011680" cy="329184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2441448" y="822960"/>
            <a:ext cx="2011680" cy="457200"/>
          </a:xfrm>
          <a:prstGeom prst="rect">
            <a:avLst/>
          </a:prstGeom>
          <a:solidFill>
            <a:srgbClr val="028090"/>
          </a:solidFill>
          <a:ln w="12700">
            <a:solidFill>
              <a:srgbClr val="028090"/>
            </a:solidFill>
            <a:prstDash val="solid"/>
          </a:ln>
        </p:spPr>
      </p:sp>
      <p:sp>
        <p:nvSpPr>
          <p:cNvPr id="15" name="Text 13"/>
          <p:cNvSpPr/>
          <p:nvPr/>
        </p:nvSpPr>
        <p:spPr>
          <a:xfrm>
            <a:off x="2441448" y="850392"/>
            <a:ext cx="2011680" cy="40233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6" name="Text 14"/>
          <p:cNvSpPr/>
          <p:nvPr/>
        </p:nvSpPr>
        <p:spPr>
          <a:xfrm>
            <a:off x="2441448" y="1325880"/>
            <a:ext cx="2011680" cy="365760"/>
          </a:xfrm>
          <a:prstGeom prst="rect">
            <a:avLst/>
          </a:prstGeom>
          <a:noFill/>
          <a:ln/>
        </p:spPr>
        <p:txBody>
          <a:bodyPr wrap="square" lIns="0" tIns="0" rIns="0" bIns="0" rtlCol="0" anchor="ctr"/>
          <a:lstStyle/>
          <a:p>
            <a:pPr algn="ctr" indent="0" marL="0">
              <a:buNone/>
            </a:pPr>
            <a:r>
              <a:rPr lang="en-US" sz="1200" b="1" dirty="0">
                <a:solidFill>
                  <a:srgbClr val="065A82"/>
                </a:solidFill>
                <a:latin typeface="Calibri" pitchFamily="34" charset="0"/>
                <a:ea typeface="Calibri" pitchFamily="34" charset="-122"/>
                <a:cs typeface="Calibri" pitchFamily="34" charset="-120"/>
              </a:rPr>
              <a:t>Few-Shot / ICL</a:t>
            </a:r>
            <a:endParaRPr lang="en-US" sz="1200" dirty="0"/>
          </a:p>
        </p:txBody>
      </p:sp>
      <p:sp>
        <p:nvSpPr>
          <p:cNvPr id="17" name="Text 15"/>
          <p:cNvSpPr/>
          <p:nvPr/>
        </p:nvSpPr>
        <p:spPr>
          <a:xfrm>
            <a:off x="2532888" y="1737360"/>
            <a:ext cx="1828800" cy="137160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2 examples of good simplifications provided in the prompt. Model learns the expected style and format in-context.</a:t>
            </a:r>
            <a:endParaRPr lang="en-US" sz="950" dirty="0"/>
          </a:p>
        </p:txBody>
      </p:sp>
      <p:sp>
        <p:nvSpPr>
          <p:cNvPr id="18" name="Shape 16"/>
          <p:cNvSpPr/>
          <p:nvPr/>
        </p:nvSpPr>
        <p:spPr>
          <a:xfrm>
            <a:off x="2532888" y="3154680"/>
            <a:ext cx="1828800" cy="256032"/>
          </a:xfrm>
          <a:prstGeom prst="rect">
            <a:avLst/>
          </a:prstGeom>
          <a:solidFill>
            <a:srgbClr val="E8F8F3"/>
          </a:solidFill>
          <a:ln w="12700">
            <a:solidFill>
              <a:srgbClr val="E8F8F3"/>
            </a:solidFill>
            <a:prstDash val="solid"/>
          </a:ln>
        </p:spPr>
      </p:sp>
      <p:sp>
        <p:nvSpPr>
          <p:cNvPr id="19" name="Text 17"/>
          <p:cNvSpPr/>
          <p:nvPr/>
        </p:nvSpPr>
        <p:spPr>
          <a:xfrm>
            <a:off x="2532888" y="3154680"/>
            <a:ext cx="1828800" cy="256032"/>
          </a:xfrm>
          <a:prstGeom prst="rect">
            <a:avLst/>
          </a:prstGeom>
          <a:noFill/>
          <a:ln/>
        </p:spPr>
        <p:txBody>
          <a:bodyPr wrap="square" lIns="0" tIns="0" rIns="0" bIns="0" rtlCol="0" anchor="ctr"/>
          <a:lstStyle/>
          <a:p>
            <a:pPr indent="0" marL="0">
              <a:buNone/>
            </a:pPr>
            <a:r>
              <a:rPr lang="en-US" sz="900" b="1" dirty="0">
                <a:solidFill>
                  <a:srgbClr val="027A5F"/>
                </a:solidFill>
                <a:latin typeface="Calibri" pitchFamily="34" charset="0"/>
                <a:ea typeface="Calibri" pitchFamily="34" charset="-122"/>
                <a:cs typeface="Calibri" pitchFamily="34" charset="-120"/>
              </a:rPr>
              <a:t>✅ Consistent format</a:t>
            </a:r>
            <a:endParaRPr lang="en-US" sz="900" dirty="0"/>
          </a:p>
        </p:txBody>
      </p:sp>
      <p:sp>
        <p:nvSpPr>
          <p:cNvPr id="20" name="Shape 18"/>
          <p:cNvSpPr/>
          <p:nvPr/>
        </p:nvSpPr>
        <p:spPr>
          <a:xfrm>
            <a:off x="2532888" y="3456432"/>
            <a:ext cx="1828800" cy="256032"/>
          </a:xfrm>
          <a:prstGeom prst="rect">
            <a:avLst/>
          </a:prstGeom>
          <a:solidFill>
            <a:srgbClr val="FEF0ED"/>
          </a:solidFill>
          <a:ln w="12700">
            <a:solidFill>
              <a:srgbClr val="FEF0ED"/>
            </a:solidFill>
            <a:prstDash val="solid"/>
          </a:ln>
        </p:spPr>
      </p:sp>
      <p:sp>
        <p:nvSpPr>
          <p:cNvPr id="21" name="Text 19"/>
          <p:cNvSpPr/>
          <p:nvPr/>
        </p:nvSpPr>
        <p:spPr>
          <a:xfrm>
            <a:off x="2532888" y="3456432"/>
            <a:ext cx="1828800" cy="256032"/>
          </a:xfrm>
          <a:prstGeom prst="rect">
            <a:avLst/>
          </a:prstGeom>
          <a:noFill/>
          <a:ln/>
        </p:spPr>
        <p:txBody>
          <a:bodyPr wrap="square" lIns="0" tIns="0" rIns="0" bIns="0" rtlCol="0" anchor="ctr"/>
          <a:lstStyle/>
          <a:p>
            <a:pPr indent="0" marL="0">
              <a:buNone/>
            </a:pPr>
            <a:r>
              <a:rPr lang="en-US" sz="900" b="1" dirty="0">
                <a:solidFill>
                  <a:srgbClr val="9B2335"/>
                </a:solidFill>
                <a:latin typeface="Calibri" pitchFamily="34" charset="0"/>
                <a:ea typeface="Calibri" pitchFamily="34" charset="-122"/>
                <a:cs typeface="Calibri" pitchFamily="34" charset="-120"/>
              </a:rPr>
              <a:t>⚠️ Needs good examples</a:t>
            </a:r>
            <a:endParaRPr lang="en-US" sz="900" dirty="0"/>
          </a:p>
        </p:txBody>
      </p:sp>
      <p:sp>
        <p:nvSpPr>
          <p:cNvPr id="22" name="Shape 20"/>
          <p:cNvSpPr/>
          <p:nvPr/>
        </p:nvSpPr>
        <p:spPr>
          <a:xfrm>
            <a:off x="4654296" y="822960"/>
            <a:ext cx="2011680" cy="329184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23" name="Shape 21"/>
          <p:cNvSpPr/>
          <p:nvPr/>
        </p:nvSpPr>
        <p:spPr>
          <a:xfrm>
            <a:off x="4654296" y="822960"/>
            <a:ext cx="2011680" cy="457200"/>
          </a:xfrm>
          <a:prstGeom prst="rect">
            <a:avLst/>
          </a:prstGeom>
          <a:solidFill>
            <a:srgbClr val="1C7293"/>
          </a:solidFill>
          <a:ln w="12700">
            <a:solidFill>
              <a:srgbClr val="1C7293"/>
            </a:solidFill>
            <a:prstDash val="solid"/>
          </a:ln>
        </p:spPr>
      </p:sp>
      <p:sp>
        <p:nvSpPr>
          <p:cNvPr id="24" name="Text 22"/>
          <p:cNvSpPr/>
          <p:nvPr/>
        </p:nvSpPr>
        <p:spPr>
          <a:xfrm>
            <a:off x="4654296" y="850392"/>
            <a:ext cx="2011680" cy="40233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25" name="Text 23"/>
          <p:cNvSpPr/>
          <p:nvPr/>
        </p:nvSpPr>
        <p:spPr>
          <a:xfrm>
            <a:off x="4654296" y="1325880"/>
            <a:ext cx="2011680" cy="365760"/>
          </a:xfrm>
          <a:prstGeom prst="rect">
            <a:avLst/>
          </a:prstGeom>
          <a:noFill/>
          <a:ln/>
        </p:spPr>
        <p:txBody>
          <a:bodyPr wrap="square" lIns="0" tIns="0" rIns="0" bIns="0" rtlCol="0" anchor="ctr"/>
          <a:lstStyle/>
          <a:p>
            <a:pPr algn="ctr" indent="0" marL="0">
              <a:buNone/>
            </a:pPr>
            <a:r>
              <a:rPr lang="en-US" sz="1200" b="1" dirty="0">
                <a:solidFill>
                  <a:srgbClr val="065A82"/>
                </a:solidFill>
                <a:latin typeface="Calibri" pitchFamily="34" charset="0"/>
                <a:ea typeface="Calibri" pitchFamily="34" charset="-122"/>
                <a:cs typeface="Calibri" pitchFamily="34" charset="-120"/>
              </a:rPr>
              <a:t>Chain-of-Thought</a:t>
            </a:r>
            <a:endParaRPr lang="en-US" sz="1200" dirty="0"/>
          </a:p>
        </p:txBody>
      </p:sp>
      <p:sp>
        <p:nvSpPr>
          <p:cNvPr id="26" name="Text 24"/>
          <p:cNvSpPr/>
          <p:nvPr/>
        </p:nvSpPr>
        <p:spPr>
          <a:xfrm>
            <a:off x="4745736" y="1737360"/>
            <a:ext cx="1828800" cy="137160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GPT explicitly reasons step-by-step: identify terms → explain them → find key message → write simplification.</a:t>
            </a:r>
            <a:endParaRPr lang="en-US" sz="950" dirty="0"/>
          </a:p>
        </p:txBody>
      </p:sp>
      <p:sp>
        <p:nvSpPr>
          <p:cNvPr id="27" name="Shape 25"/>
          <p:cNvSpPr/>
          <p:nvPr/>
        </p:nvSpPr>
        <p:spPr>
          <a:xfrm>
            <a:off x="4745736" y="3154680"/>
            <a:ext cx="1828800" cy="256032"/>
          </a:xfrm>
          <a:prstGeom prst="rect">
            <a:avLst/>
          </a:prstGeom>
          <a:solidFill>
            <a:srgbClr val="E8F8F3"/>
          </a:solidFill>
          <a:ln w="12700">
            <a:solidFill>
              <a:srgbClr val="E8F8F3"/>
            </a:solidFill>
            <a:prstDash val="solid"/>
          </a:ln>
        </p:spPr>
      </p:sp>
      <p:sp>
        <p:nvSpPr>
          <p:cNvPr id="28" name="Text 26"/>
          <p:cNvSpPr/>
          <p:nvPr/>
        </p:nvSpPr>
        <p:spPr>
          <a:xfrm>
            <a:off x="4745736" y="3154680"/>
            <a:ext cx="1828800" cy="256032"/>
          </a:xfrm>
          <a:prstGeom prst="rect">
            <a:avLst/>
          </a:prstGeom>
          <a:noFill/>
          <a:ln/>
        </p:spPr>
        <p:txBody>
          <a:bodyPr wrap="square" lIns="0" tIns="0" rIns="0" bIns="0" rtlCol="0" anchor="ctr"/>
          <a:lstStyle/>
          <a:p>
            <a:pPr indent="0" marL="0">
              <a:buNone/>
            </a:pPr>
            <a:r>
              <a:rPr lang="en-US" sz="900" b="1" dirty="0">
                <a:solidFill>
                  <a:srgbClr val="027A5F"/>
                </a:solidFill>
                <a:latin typeface="Calibri" pitchFamily="34" charset="0"/>
                <a:ea typeface="Calibri" pitchFamily="34" charset="-122"/>
                <a:cs typeface="Calibri" pitchFamily="34" charset="-120"/>
              </a:rPr>
              <a:t>✅ Transparent reasoning</a:t>
            </a:r>
            <a:endParaRPr lang="en-US" sz="900" dirty="0"/>
          </a:p>
        </p:txBody>
      </p:sp>
      <p:sp>
        <p:nvSpPr>
          <p:cNvPr id="29" name="Shape 27"/>
          <p:cNvSpPr/>
          <p:nvPr/>
        </p:nvSpPr>
        <p:spPr>
          <a:xfrm>
            <a:off x="4745736" y="3456432"/>
            <a:ext cx="1828800" cy="256032"/>
          </a:xfrm>
          <a:prstGeom prst="rect">
            <a:avLst/>
          </a:prstGeom>
          <a:solidFill>
            <a:srgbClr val="FEF0ED"/>
          </a:solidFill>
          <a:ln w="12700">
            <a:solidFill>
              <a:srgbClr val="FEF0ED"/>
            </a:solidFill>
            <a:prstDash val="solid"/>
          </a:ln>
        </p:spPr>
      </p:sp>
      <p:sp>
        <p:nvSpPr>
          <p:cNvPr id="30" name="Text 28"/>
          <p:cNvSpPr/>
          <p:nvPr/>
        </p:nvSpPr>
        <p:spPr>
          <a:xfrm>
            <a:off x="4745736" y="3456432"/>
            <a:ext cx="1828800" cy="256032"/>
          </a:xfrm>
          <a:prstGeom prst="rect">
            <a:avLst/>
          </a:prstGeom>
          <a:noFill/>
          <a:ln/>
        </p:spPr>
        <p:txBody>
          <a:bodyPr wrap="square" lIns="0" tIns="0" rIns="0" bIns="0" rtlCol="0" anchor="ctr"/>
          <a:lstStyle/>
          <a:p>
            <a:pPr indent="0" marL="0">
              <a:buNone/>
            </a:pPr>
            <a:r>
              <a:rPr lang="en-US" sz="900" b="1" dirty="0">
                <a:solidFill>
                  <a:srgbClr val="9B2335"/>
                </a:solidFill>
                <a:latin typeface="Calibri" pitchFamily="34" charset="0"/>
                <a:ea typeface="Calibri" pitchFamily="34" charset="-122"/>
                <a:cs typeface="Calibri" pitchFamily="34" charset="-120"/>
              </a:rPr>
              <a:t>⚠️ Longer outputs</a:t>
            </a:r>
            <a:endParaRPr lang="en-US" sz="900" dirty="0"/>
          </a:p>
        </p:txBody>
      </p:sp>
      <p:sp>
        <p:nvSpPr>
          <p:cNvPr id="31" name="Shape 29"/>
          <p:cNvSpPr/>
          <p:nvPr/>
        </p:nvSpPr>
        <p:spPr>
          <a:xfrm>
            <a:off x="6867144" y="822960"/>
            <a:ext cx="2011680" cy="329184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32" name="Shape 30"/>
          <p:cNvSpPr/>
          <p:nvPr/>
        </p:nvSpPr>
        <p:spPr>
          <a:xfrm>
            <a:off x="6867144" y="822960"/>
            <a:ext cx="2011680" cy="457200"/>
          </a:xfrm>
          <a:prstGeom prst="rect">
            <a:avLst/>
          </a:prstGeom>
          <a:solidFill>
            <a:srgbClr val="02C39A"/>
          </a:solidFill>
          <a:ln w="12700">
            <a:solidFill>
              <a:srgbClr val="02C39A"/>
            </a:solidFill>
            <a:prstDash val="solid"/>
          </a:ln>
        </p:spPr>
      </p:sp>
      <p:sp>
        <p:nvSpPr>
          <p:cNvPr id="33" name="Text 31"/>
          <p:cNvSpPr/>
          <p:nvPr/>
        </p:nvSpPr>
        <p:spPr>
          <a:xfrm>
            <a:off x="6867144" y="850392"/>
            <a:ext cx="2011680" cy="40233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04</a:t>
            </a:r>
            <a:endParaRPr lang="en-US" sz="2200" dirty="0"/>
          </a:p>
        </p:txBody>
      </p:sp>
      <p:sp>
        <p:nvSpPr>
          <p:cNvPr id="34" name="Text 32"/>
          <p:cNvSpPr/>
          <p:nvPr/>
        </p:nvSpPr>
        <p:spPr>
          <a:xfrm>
            <a:off x="6867144" y="1325880"/>
            <a:ext cx="2011680" cy="365760"/>
          </a:xfrm>
          <a:prstGeom prst="rect">
            <a:avLst/>
          </a:prstGeom>
          <a:noFill/>
          <a:ln/>
        </p:spPr>
        <p:txBody>
          <a:bodyPr wrap="square" lIns="0" tIns="0" rIns="0" bIns="0" rtlCol="0" anchor="ctr"/>
          <a:lstStyle/>
          <a:p>
            <a:pPr algn="ctr" indent="0" marL="0">
              <a:buNone/>
            </a:pPr>
            <a:r>
              <a:rPr lang="en-US" sz="1200" b="1" dirty="0">
                <a:solidFill>
                  <a:srgbClr val="065A82"/>
                </a:solidFill>
                <a:latin typeface="Calibri" pitchFamily="34" charset="0"/>
                <a:ea typeface="Calibri" pitchFamily="34" charset="-122"/>
                <a:cs typeface="Calibri" pitchFamily="34" charset="-120"/>
              </a:rPr>
              <a:t>Tree-of-Thought</a:t>
            </a:r>
            <a:endParaRPr lang="en-US" sz="1200" dirty="0"/>
          </a:p>
        </p:txBody>
      </p:sp>
      <p:sp>
        <p:nvSpPr>
          <p:cNvPr id="35" name="Text 33"/>
          <p:cNvSpPr/>
          <p:nvPr/>
        </p:nvSpPr>
        <p:spPr>
          <a:xfrm>
            <a:off x="6958584" y="1737360"/>
            <a:ext cx="1828800" cy="137160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3 expert paths explored simultaneously. Each path rated 1-10. Best elements combined into final output.</a:t>
            </a:r>
            <a:endParaRPr lang="en-US" sz="950" dirty="0"/>
          </a:p>
        </p:txBody>
      </p:sp>
      <p:sp>
        <p:nvSpPr>
          <p:cNvPr id="36" name="Shape 34"/>
          <p:cNvSpPr/>
          <p:nvPr/>
        </p:nvSpPr>
        <p:spPr>
          <a:xfrm>
            <a:off x="6958584" y="3154680"/>
            <a:ext cx="1828800" cy="256032"/>
          </a:xfrm>
          <a:prstGeom prst="rect">
            <a:avLst/>
          </a:prstGeom>
          <a:solidFill>
            <a:srgbClr val="E8F8F3"/>
          </a:solidFill>
          <a:ln w="12700">
            <a:solidFill>
              <a:srgbClr val="E8F8F3"/>
            </a:solidFill>
            <a:prstDash val="solid"/>
          </a:ln>
        </p:spPr>
      </p:sp>
      <p:sp>
        <p:nvSpPr>
          <p:cNvPr id="37" name="Text 35"/>
          <p:cNvSpPr/>
          <p:nvPr/>
        </p:nvSpPr>
        <p:spPr>
          <a:xfrm>
            <a:off x="6958584" y="3154680"/>
            <a:ext cx="1828800" cy="256032"/>
          </a:xfrm>
          <a:prstGeom prst="rect">
            <a:avLst/>
          </a:prstGeom>
          <a:noFill/>
          <a:ln/>
        </p:spPr>
        <p:txBody>
          <a:bodyPr wrap="square" lIns="0" tIns="0" rIns="0" bIns="0" rtlCol="0" anchor="ctr"/>
          <a:lstStyle/>
          <a:p>
            <a:pPr indent="0" marL="0">
              <a:buNone/>
            </a:pPr>
            <a:r>
              <a:rPr lang="en-US" sz="900" b="1" dirty="0">
                <a:solidFill>
                  <a:srgbClr val="027A5F"/>
                </a:solidFill>
                <a:latin typeface="Calibri" pitchFamily="34" charset="0"/>
                <a:ea typeface="Calibri" pitchFamily="34" charset="-122"/>
                <a:cs typeface="Calibri" pitchFamily="34" charset="-120"/>
              </a:rPr>
              <a:t>✅ Most thorough</a:t>
            </a:r>
            <a:endParaRPr lang="en-US" sz="900" dirty="0"/>
          </a:p>
        </p:txBody>
      </p:sp>
      <p:sp>
        <p:nvSpPr>
          <p:cNvPr id="38" name="Shape 36"/>
          <p:cNvSpPr/>
          <p:nvPr/>
        </p:nvSpPr>
        <p:spPr>
          <a:xfrm>
            <a:off x="6958584" y="3456432"/>
            <a:ext cx="1828800" cy="256032"/>
          </a:xfrm>
          <a:prstGeom prst="rect">
            <a:avLst/>
          </a:prstGeom>
          <a:solidFill>
            <a:srgbClr val="FEF0ED"/>
          </a:solidFill>
          <a:ln w="12700">
            <a:solidFill>
              <a:srgbClr val="FEF0ED"/>
            </a:solidFill>
            <a:prstDash val="solid"/>
          </a:ln>
        </p:spPr>
      </p:sp>
      <p:sp>
        <p:nvSpPr>
          <p:cNvPr id="39" name="Text 37"/>
          <p:cNvSpPr/>
          <p:nvPr/>
        </p:nvSpPr>
        <p:spPr>
          <a:xfrm>
            <a:off x="6958584" y="3456432"/>
            <a:ext cx="1828800" cy="256032"/>
          </a:xfrm>
          <a:prstGeom prst="rect">
            <a:avLst/>
          </a:prstGeom>
          <a:noFill/>
          <a:ln/>
        </p:spPr>
        <p:txBody>
          <a:bodyPr wrap="square" lIns="0" tIns="0" rIns="0" bIns="0" rtlCol="0" anchor="ctr"/>
          <a:lstStyle/>
          <a:p>
            <a:pPr indent="0" marL="0">
              <a:buNone/>
            </a:pPr>
            <a:r>
              <a:rPr lang="en-US" sz="900" b="1" dirty="0">
                <a:solidFill>
                  <a:srgbClr val="9B2335"/>
                </a:solidFill>
                <a:latin typeface="Calibri" pitchFamily="34" charset="0"/>
                <a:ea typeface="Calibri" pitchFamily="34" charset="-122"/>
                <a:cs typeface="Calibri" pitchFamily="34" charset="-120"/>
              </a:rPr>
              <a:t>⚠️ Slowest / most tokens</a:t>
            </a:r>
            <a:endParaRPr lang="en-US" sz="900" dirty="0"/>
          </a:p>
        </p:txBody>
      </p:sp>
      <p:sp>
        <p:nvSpPr>
          <p:cNvPr id="40" name="Text 38"/>
          <p:cNvSpPr/>
          <p:nvPr/>
        </p:nvSpPr>
        <p:spPr>
          <a:xfrm>
            <a:off x="2148840" y="2331720"/>
            <a:ext cx="274320" cy="320040"/>
          </a:xfrm>
          <a:prstGeom prst="rect">
            <a:avLst/>
          </a:prstGeom>
          <a:noFill/>
          <a:ln/>
        </p:spPr>
        <p:txBody>
          <a:bodyPr wrap="square" lIns="0" tIns="0" rIns="0" bIns="0" rtlCol="0" anchor="ctr"/>
          <a:lstStyle/>
          <a:p>
            <a:pPr algn="ctr" indent="0" marL="0">
              <a:buNone/>
            </a:pPr>
            <a:r>
              <a:rPr lang="en-US" sz="1800" b="1" dirty="0">
                <a:solidFill>
                  <a:srgbClr val="028090"/>
                </a:solidFill>
              </a:rPr>
              <a:t>→</a:t>
            </a:r>
            <a:endParaRPr lang="en-US" sz="1800" dirty="0"/>
          </a:p>
        </p:txBody>
      </p:sp>
      <p:sp>
        <p:nvSpPr>
          <p:cNvPr id="41" name="Text 39"/>
          <p:cNvSpPr/>
          <p:nvPr/>
        </p:nvSpPr>
        <p:spPr>
          <a:xfrm>
            <a:off x="4325112" y="2331720"/>
            <a:ext cx="274320" cy="320040"/>
          </a:xfrm>
          <a:prstGeom prst="rect">
            <a:avLst/>
          </a:prstGeom>
          <a:noFill/>
          <a:ln/>
        </p:spPr>
        <p:txBody>
          <a:bodyPr wrap="square" lIns="0" tIns="0" rIns="0" bIns="0" rtlCol="0" anchor="ctr"/>
          <a:lstStyle/>
          <a:p>
            <a:pPr algn="ctr" indent="0" marL="0">
              <a:buNone/>
            </a:pPr>
            <a:r>
              <a:rPr lang="en-US" sz="1800" b="1" dirty="0">
                <a:solidFill>
                  <a:srgbClr val="028090"/>
                </a:solidFill>
              </a:rPr>
              <a:t>→</a:t>
            </a:r>
            <a:endParaRPr lang="en-US" sz="1800" dirty="0"/>
          </a:p>
        </p:txBody>
      </p:sp>
      <p:sp>
        <p:nvSpPr>
          <p:cNvPr id="42" name="Text 40"/>
          <p:cNvSpPr/>
          <p:nvPr/>
        </p:nvSpPr>
        <p:spPr>
          <a:xfrm>
            <a:off x="6501384" y="2331720"/>
            <a:ext cx="274320" cy="320040"/>
          </a:xfrm>
          <a:prstGeom prst="rect">
            <a:avLst/>
          </a:prstGeom>
          <a:noFill/>
          <a:ln/>
        </p:spPr>
        <p:txBody>
          <a:bodyPr wrap="square" lIns="0" tIns="0" rIns="0" bIns="0" rtlCol="0" anchor="ctr"/>
          <a:lstStyle/>
          <a:p>
            <a:pPr algn="ctr" indent="0" marL="0">
              <a:buNone/>
            </a:pPr>
            <a:r>
              <a:rPr lang="en-US" sz="1800" b="1" dirty="0">
                <a:solidFill>
                  <a:srgbClr val="028090"/>
                </a:solidFill>
              </a:rPr>
              <a:t>→</a:t>
            </a:r>
            <a:endParaRPr lang="en-US" sz="1800" dirty="0"/>
          </a:p>
        </p:txBody>
      </p:sp>
      <p:sp>
        <p:nvSpPr>
          <p:cNvPr id="43" name="Text 41"/>
          <p:cNvSpPr/>
          <p:nvPr/>
        </p:nvSpPr>
        <p:spPr>
          <a:xfrm>
            <a:off x="228600" y="4251960"/>
            <a:ext cx="868680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Increasing complexity &amp; quality  →</a:t>
            </a:r>
            <a:endParaRPr lang="en-US" sz="1000" dirty="0"/>
          </a:p>
        </p:txBody>
      </p:sp>
      <p:sp>
        <p:nvSpPr>
          <p:cNvPr id="44" name="Shape 42"/>
          <p:cNvSpPr/>
          <p:nvPr/>
        </p:nvSpPr>
        <p:spPr>
          <a:xfrm>
            <a:off x="0" y="4873752"/>
            <a:ext cx="9144000" cy="269748"/>
          </a:xfrm>
          <a:prstGeom prst="rect">
            <a:avLst/>
          </a:prstGeom>
          <a:solidFill>
            <a:srgbClr val="028090"/>
          </a:solidFill>
          <a:ln w="12700">
            <a:solidFill>
              <a:srgbClr val="028090"/>
            </a:solidFill>
            <a:prstDash val="solid"/>
          </a:ln>
        </p:spPr>
      </p:sp>
      <p:sp>
        <p:nvSpPr>
          <p:cNvPr id="45" name="Text 43"/>
          <p:cNvSpPr/>
          <p:nvPr/>
        </p:nvSpPr>
        <p:spPr>
          <a:xfrm>
            <a:off x="365760" y="4892040"/>
            <a:ext cx="82296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AI in Healthcare  |  Frahim Mohd  |  UT Austin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9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73152"/>
            <a:ext cx="8229600" cy="53035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Zero-Shot vs Few-Shot Results</a:t>
            </a:r>
            <a:endParaRPr lang="en-US" sz="2400" dirty="0"/>
          </a:p>
        </p:txBody>
      </p:sp>
      <p:sp>
        <p:nvSpPr>
          <p:cNvPr id="4" name="Shape 2"/>
          <p:cNvSpPr/>
          <p:nvPr/>
        </p:nvSpPr>
        <p:spPr>
          <a:xfrm>
            <a:off x="365760" y="777240"/>
            <a:ext cx="8412480" cy="502920"/>
          </a:xfrm>
          <a:prstGeom prst="rect">
            <a:avLst/>
          </a:prstGeom>
          <a:solidFill>
            <a:srgbClr val="E0F2F7"/>
          </a:solidFill>
          <a:ln w="12700">
            <a:solidFill>
              <a:srgbClr val="E0F2F7"/>
            </a:solidFill>
            <a:prstDash val="solid"/>
          </a:ln>
        </p:spPr>
      </p:sp>
      <p:sp>
        <p:nvSpPr>
          <p:cNvPr id="5" name="Text 3"/>
          <p:cNvSpPr/>
          <p:nvPr/>
        </p:nvSpPr>
        <p:spPr>
          <a:xfrm>
            <a:off x="457200" y="795528"/>
            <a:ext cx="8229600" cy="438912"/>
          </a:xfrm>
          <a:prstGeom prst="rect">
            <a:avLst/>
          </a:prstGeom>
          <a:noFill/>
          <a:ln/>
        </p:spPr>
        <p:txBody>
          <a:bodyPr wrap="square" lIns="0" tIns="0" rIns="0" bIns="0" rtlCol="0" anchor="ctr"/>
          <a:lstStyle/>
          <a:p>
            <a:pPr indent="0" marL="0">
              <a:buNone/>
            </a:pPr>
            <a:r>
              <a:rPr lang="en-US" sz="900" i="1" dirty="0">
                <a:solidFill>
                  <a:srgbClr val="1E293B"/>
                </a:solidFill>
                <a:latin typeface="Calibri" pitchFamily="34" charset="0"/>
                <a:ea typeface="Calibri" pitchFamily="34" charset="-122"/>
                <a:cs typeface="Calibri" pitchFamily="34" charset="-120"/>
              </a:rPr>
              <a:t>📋  Original Note (Type 2 Diabetes): "A randomized, double-blind, placebo-controlled trial evaluated metformin hydrochloride (1500mg/day) in glycemic control... HbA1c levels showed statistically significant reduction (p&lt;0.05)"</a:t>
            </a:r>
            <a:endParaRPr lang="en-US" sz="900" dirty="0"/>
          </a:p>
        </p:txBody>
      </p:sp>
      <p:sp>
        <p:nvSpPr>
          <p:cNvPr id="6" name="Shape 4"/>
          <p:cNvSpPr/>
          <p:nvPr/>
        </p:nvSpPr>
        <p:spPr>
          <a:xfrm>
            <a:off x="365760" y="1417320"/>
            <a:ext cx="4160520" cy="324612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7" name="Shape 5"/>
          <p:cNvSpPr/>
          <p:nvPr/>
        </p:nvSpPr>
        <p:spPr>
          <a:xfrm>
            <a:off x="365760" y="1417320"/>
            <a:ext cx="4160520" cy="384048"/>
          </a:xfrm>
          <a:prstGeom prst="rect">
            <a:avLst/>
          </a:prstGeom>
          <a:solidFill>
            <a:srgbClr val="64748B"/>
          </a:solidFill>
          <a:ln w="12700">
            <a:solidFill>
              <a:srgbClr val="64748B"/>
            </a:solidFill>
            <a:prstDash val="solid"/>
          </a:ln>
        </p:spPr>
      </p:sp>
      <p:sp>
        <p:nvSpPr>
          <p:cNvPr id="8" name="Text 6"/>
          <p:cNvSpPr/>
          <p:nvPr/>
        </p:nvSpPr>
        <p:spPr>
          <a:xfrm>
            <a:off x="365760" y="1435608"/>
            <a:ext cx="41605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Zero-Shot</a:t>
            </a:r>
            <a:endParaRPr lang="en-US" sz="1300" dirty="0"/>
          </a:p>
        </p:txBody>
      </p:sp>
      <p:sp>
        <p:nvSpPr>
          <p:cNvPr id="9" name="Text 7"/>
          <p:cNvSpPr/>
          <p:nvPr/>
        </p:nvSpPr>
        <p:spPr>
          <a:xfrm>
            <a:off x="502920" y="1874520"/>
            <a:ext cx="3840480" cy="256032"/>
          </a:xfrm>
          <a:prstGeom prst="rect">
            <a:avLst/>
          </a:prstGeom>
          <a:noFill/>
          <a:ln/>
        </p:spPr>
        <p:txBody>
          <a:bodyPr wrap="square" lIns="0" tIns="0" rIns="0" bIns="0"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5th Grade Simplification:</a:t>
            </a:r>
            <a:endParaRPr lang="en-US" sz="1000" dirty="0"/>
          </a:p>
        </p:txBody>
      </p:sp>
      <p:sp>
        <p:nvSpPr>
          <p:cNvPr id="10" name="Text 8"/>
          <p:cNvSpPr/>
          <p:nvPr/>
        </p:nvSpPr>
        <p:spPr>
          <a:xfrm>
            <a:off x="502920" y="2148840"/>
            <a:ext cx="3840480" cy="1463040"/>
          </a:xfrm>
          <a:prstGeom prst="rect">
            <a:avLst/>
          </a:prstGeom>
          <a:noFill/>
          <a:ln/>
        </p:spPr>
        <p:txBody>
          <a:bodyPr wrap="square" lIns="0" tIns="0" rIns="0" bIns="0" rtlCol="0" anchor="ctr"/>
          <a:lstStyle/>
          <a:p>
            <a:pPr indent="0" marL="0">
              <a:buNone/>
            </a:pPr>
            <a:r>
              <a:rPr lang="en-US" sz="1000" i="1" dirty="0">
                <a:solidFill>
                  <a:srgbClr val="1E293B"/>
                </a:solidFill>
                <a:latin typeface="Calibri" pitchFamily="34" charset="0"/>
                <a:ea typeface="Calibri" pitchFamily="34" charset="-122"/>
                <a:cs typeface="Calibri" pitchFamily="34" charset="-120"/>
              </a:rPr>
              <a:t>"Doctors tested a diabetes medicine called Metformin on patients. They checked blood sugar levels over time. The medicine helped lower blood sugar significantly compared to a sugar pill."</a:t>
            </a:r>
            <a:endParaRPr lang="en-US" sz="1000" dirty="0"/>
          </a:p>
        </p:txBody>
      </p:sp>
      <p:sp>
        <p:nvSpPr>
          <p:cNvPr id="11" name="Shape 9"/>
          <p:cNvSpPr/>
          <p:nvPr/>
        </p:nvSpPr>
        <p:spPr>
          <a:xfrm>
            <a:off x="457200" y="3657600"/>
            <a:ext cx="3886200" cy="685800"/>
          </a:xfrm>
          <a:prstGeom prst="rect">
            <a:avLst/>
          </a:prstGeom>
          <a:solidFill>
            <a:srgbClr val="E0F2F7"/>
          </a:solidFill>
          <a:ln w="12700">
            <a:solidFill>
              <a:srgbClr val="E0F2F7"/>
            </a:solidFill>
            <a:prstDash val="solid"/>
          </a:ln>
        </p:spPr>
      </p:sp>
      <p:sp>
        <p:nvSpPr>
          <p:cNvPr id="12" name="Text 10"/>
          <p:cNvSpPr/>
          <p:nvPr/>
        </p:nvSpPr>
        <p:spPr>
          <a:xfrm>
            <a:off x="502920" y="3675888"/>
            <a:ext cx="3749040" cy="62179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 Reasonable but vague. No structure. Misses side effect information.</a:t>
            </a:r>
            <a:endParaRPr lang="en-US" sz="950" dirty="0"/>
          </a:p>
        </p:txBody>
      </p:sp>
      <p:sp>
        <p:nvSpPr>
          <p:cNvPr id="13" name="Shape 11"/>
          <p:cNvSpPr/>
          <p:nvPr/>
        </p:nvSpPr>
        <p:spPr>
          <a:xfrm>
            <a:off x="4754880" y="1417320"/>
            <a:ext cx="4160520" cy="324612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4754880" y="1417320"/>
            <a:ext cx="4160520" cy="384048"/>
          </a:xfrm>
          <a:prstGeom prst="rect">
            <a:avLst/>
          </a:prstGeom>
          <a:solidFill>
            <a:srgbClr val="028090"/>
          </a:solidFill>
          <a:ln w="12700">
            <a:solidFill>
              <a:srgbClr val="028090"/>
            </a:solidFill>
            <a:prstDash val="solid"/>
          </a:ln>
        </p:spPr>
      </p:sp>
      <p:sp>
        <p:nvSpPr>
          <p:cNvPr id="15" name="Text 13"/>
          <p:cNvSpPr/>
          <p:nvPr/>
        </p:nvSpPr>
        <p:spPr>
          <a:xfrm>
            <a:off x="4754880" y="1435608"/>
            <a:ext cx="41605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Few-Shot (ICL)</a:t>
            </a:r>
            <a:endParaRPr lang="en-US" sz="1300" dirty="0"/>
          </a:p>
        </p:txBody>
      </p:sp>
      <p:sp>
        <p:nvSpPr>
          <p:cNvPr id="16" name="Text 14"/>
          <p:cNvSpPr/>
          <p:nvPr/>
        </p:nvSpPr>
        <p:spPr>
          <a:xfrm>
            <a:off x="4892040" y="1874520"/>
            <a:ext cx="3840480" cy="256032"/>
          </a:xfrm>
          <a:prstGeom prst="rect">
            <a:avLst/>
          </a:prstGeom>
          <a:noFill/>
          <a:ln/>
        </p:spPr>
        <p:txBody>
          <a:bodyPr wrap="square" lIns="0" tIns="0" rIns="0" bIns="0"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5th Grade Simplification:</a:t>
            </a:r>
            <a:endParaRPr lang="en-US" sz="1000" dirty="0"/>
          </a:p>
        </p:txBody>
      </p:sp>
      <p:sp>
        <p:nvSpPr>
          <p:cNvPr id="17" name="Text 15"/>
          <p:cNvSpPr/>
          <p:nvPr/>
        </p:nvSpPr>
        <p:spPr>
          <a:xfrm>
            <a:off x="4892040" y="2148840"/>
            <a:ext cx="3840480" cy="1463040"/>
          </a:xfrm>
          <a:prstGeom prst="rect">
            <a:avLst/>
          </a:prstGeom>
          <a:noFill/>
          <a:ln/>
        </p:spPr>
        <p:txBody>
          <a:bodyPr wrap="square" lIns="0" tIns="0" rIns="0" bIns="0" rtlCol="0" anchor="ctr"/>
          <a:lstStyle/>
          <a:p>
            <a:pPr indent="0" marL="0">
              <a:buNone/>
            </a:pPr>
            <a:r>
              <a:rPr lang="en-US" sz="1000" i="1" dirty="0">
                <a:solidFill>
                  <a:srgbClr val="1E293B"/>
                </a:solidFill>
                <a:latin typeface="Calibri" pitchFamily="34" charset="0"/>
                <a:ea typeface="Calibri" pitchFamily="34" charset="-122"/>
                <a:cs typeface="Calibri" pitchFamily="34" charset="-120"/>
              </a:rPr>
              <a:t>"Doctors tested a medicine called Metformin on people with diabetes. They measured a blood sugar marker called HbA1c. Patients taking Metformin had much lower blood sugar than those taking a fake pill. It worked!"</a:t>
            </a:r>
            <a:endParaRPr lang="en-US" sz="1000" dirty="0"/>
          </a:p>
        </p:txBody>
      </p:sp>
      <p:sp>
        <p:nvSpPr>
          <p:cNvPr id="18" name="Shape 16"/>
          <p:cNvSpPr/>
          <p:nvPr/>
        </p:nvSpPr>
        <p:spPr>
          <a:xfrm>
            <a:off x="4846320" y="3657600"/>
            <a:ext cx="3886200" cy="685800"/>
          </a:xfrm>
          <a:prstGeom prst="rect">
            <a:avLst/>
          </a:prstGeom>
          <a:solidFill>
            <a:srgbClr val="E0F2F7"/>
          </a:solidFill>
          <a:ln w="12700">
            <a:solidFill>
              <a:srgbClr val="E0F2F7"/>
            </a:solidFill>
            <a:prstDash val="solid"/>
          </a:ln>
        </p:spPr>
      </p:sp>
      <p:sp>
        <p:nvSpPr>
          <p:cNvPr id="19" name="Text 17"/>
          <p:cNvSpPr/>
          <p:nvPr/>
        </p:nvSpPr>
        <p:spPr>
          <a:xfrm>
            <a:off x="4892040" y="3675888"/>
            <a:ext cx="3749040" cy="62179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 More specific. Better tone. HbA1c explained. Cleaner ending.</a:t>
            </a:r>
            <a:endParaRPr lang="en-US" sz="950" dirty="0"/>
          </a:p>
        </p:txBody>
      </p:sp>
      <p:sp>
        <p:nvSpPr>
          <p:cNvPr id="20" name="Shape 18"/>
          <p:cNvSpPr/>
          <p:nvPr/>
        </p:nvSpPr>
        <p:spPr>
          <a:xfrm>
            <a:off x="0" y="4873752"/>
            <a:ext cx="9144000" cy="269748"/>
          </a:xfrm>
          <a:prstGeom prst="rect">
            <a:avLst/>
          </a:prstGeom>
          <a:solidFill>
            <a:srgbClr val="028090"/>
          </a:solidFill>
          <a:ln w="12700">
            <a:solidFill>
              <a:srgbClr val="028090"/>
            </a:solidFill>
            <a:prstDash val="solid"/>
          </a:ln>
        </p:spPr>
      </p:sp>
      <p:sp>
        <p:nvSpPr>
          <p:cNvPr id="21" name="Text 19"/>
          <p:cNvSpPr/>
          <p:nvPr/>
        </p:nvSpPr>
        <p:spPr>
          <a:xfrm>
            <a:off x="365760" y="4892040"/>
            <a:ext cx="82296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AI in Healthcare  |  Frahim Mohd  |  UT Austin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9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73152"/>
            <a:ext cx="8229600" cy="53035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Tabular → Text: Synthea Patient Data</a:t>
            </a:r>
            <a:endParaRPr lang="en-US" sz="2400" dirty="0"/>
          </a:p>
        </p:txBody>
      </p:sp>
      <p:sp>
        <p:nvSpPr>
          <p:cNvPr id="4" name="Text 2"/>
          <p:cNvSpPr/>
          <p:nvPr/>
        </p:nvSpPr>
        <p:spPr>
          <a:xfrm>
            <a:off x="365760" y="777240"/>
            <a:ext cx="3840480" cy="292608"/>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  Raw Tabular Input (CSV)</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115568"/>
          <a:ext cx="3840480" cy="2926080"/>
        </p:xfrm>
        <a:graphic>
          <a:graphicData uri="http://schemas.openxmlformats.org/drawingml/2006/table">
            <a:tbl>
              <a:tblPr/>
              <a:tblGrid>
                <a:gridCol w="1920240"/>
                <a:gridCol w="1920240"/>
              </a:tblGrid>
              <a:tr h="30175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Field</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065A8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065A82"/>
                    </a:solidFill>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Age</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58</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Gender</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Female</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City</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Boston, MA</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Condition 1</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Type 2 Diabetes</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Condition 2</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Hypertension</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Condition 3</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Obesity</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Medication 1</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Metformin 500mg</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Medication 2</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FFFFFF"/>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Lisinopril 10mg</a:t>
                      </a:r>
                      <a:endParaRPr lang="en-US" sz="10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FFFFFF"/>
                    </a:solidFill>
                  </a:tcPr>
                </a:tc>
              </a:tr>
            </a:tbl>
          </a:graphicData>
        </a:graphic>
      </p:graphicFrame>
      <p:sp>
        <p:nvSpPr>
          <p:cNvPr id="6" name="Text 3"/>
          <p:cNvSpPr/>
          <p:nvPr/>
        </p:nvSpPr>
        <p:spPr>
          <a:xfrm>
            <a:off x="4297680" y="2286000"/>
            <a:ext cx="548640" cy="502920"/>
          </a:xfrm>
          <a:prstGeom prst="rect">
            <a:avLst/>
          </a:prstGeom>
          <a:noFill/>
          <a:ln/>
        </p:spPr>
        <p:txBody>
          <a:bodyPr wrap="square" lIns="0" tIns="0" rIns="0" bIns="0" rtlCol="0" anchor="ctr"/>
          <a:lstStyle/>
          <a:p>
            <a:pPr algn="ctr" indent="0" marL="0">
              <a:buNone/>
            </a:pPr>
            <a:r>
              <a:rPr lang="en-US" sz="3200" b="1" dirty="0">
                <a:solidFill>
                  <a:srgbClr val="02C39A"/>
                </a:solidFill>
              </a:rPr>
              <a:t>→</a:t>
            </a:r>
            <a:endParaRPr lang="en-US" sz="3200" dirty="0"/>
          </a:p>
        </p:txBody>
      </p:sp>
      <p:sp>
        <p:nvSpPr>
          <p:cNvPr id="7" name="Text 4"/>
          <p:cNvSpPr/>
          <p:nvPr/>
        </p:nvSpPr>
        <p:spPr>
          <a:xfrm>
            <a:off x="4251960" y="2788920"/>
            <a:ext cx="640080" cy="228600"/>
          </a:xfrm>
          <a:prstGeom prst="rect">
            <a:avLst/>
          </a:prstGeom>
          <a:noFill/>
          <a:ln/>
        </p:spPr>
        <p:txBody>
          <a:bodyPr wrap="square" lIns="0" tIns="0" rIns="0" bIns="0" rtlCol="0" anchor="ctr"/>
          <a:lstStyle/>
          <a:p>
            <a:pPr algn="ctr" indent="0" marL="0">
              <a:buNone/>
            </a:pPr>
            <a:r>
              <a:rPr lang="en-US" sz="900" b="1" dirty="0">
                <a:solidFill>
                  <a:srgbClr val="028090"/>
                </a:solidFill>
                <a:latin typeface="Calibri" pitchFamily="34" charset="0"/>
                <a:ea typeface="Calibri" pitchFamily="34" charset="-122"/>
                <a:cs typeface="Calibri" pitchFamily="34" charset="-120"/>
              </a:rPr>
              <a:t>LLM</a:t>
            </a:r>
            <a:endParaRPr lang="en-US" sz="900" dirty="0"/>
          </a:p>
        </p:txBody>
      </p:sp>
      <p:sp>
        <p:nvSpPr>
          <p:cNvPr id="8" name="Text 5"/>
          <p:cNvSpPr/>
          <p:nvPr/>
        </p:nvSpPr>
        <p:spPr>
          <a:xfrm>
            <a:off x="4983480" y="777240"/>
            <a:ext cx="3749040" cy="292608"/>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  GPT Medical Summary</a:t>
            </a:r>
            <a:endParaRPr lang="en-US" sz="1300" dirty="0"/>
          </a:p>
        </p:txBody>
      </p:sp>
      <p:sp>
        <p:nvSpPr>
          <p:cNvPr id="9" name="Shape 6"/>
          <p:cNvSpPr/>
          <p:nvPr/>
        </p:nvSpPr>
        <p:spPr>
          <a:xfrm>
            <a:off x="4983480" y="1115568"/>
            <a:ext cx="3749040" cy="292608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10" name="Shape 7"/>
          <p:cNvSpPr/>
          <p:nvPr/>
        </p:nvSpPr>
        <p:spPr>
          <a:xfrm>
            <a:off x="4983480" y="1115568"/>
            <a:ext cx="54864" cy="2926080"/>
          </a:xfrm>
          <a:prstGeom prst="rect">
            <a:avLst/>
          </a:prstGeom>
          <a:solidFill>
            <a:srgbClr val="02C39A"/>
          </a:solidFill>
          <a:ln w="12700">
            <a:solidFill>
              <a:srgbClr val="02C39A"/>
            </a:solidFill>
            <a:prstDash val="solid"/>
          </a:ln>
        </p:spPr>
      </p:sp>
      <p:sp>
        <p:nvSpPr>
          <p:cNvPr id="11" name="Text 8"/>
          <p:cNvSpPr/>
          <p:nvPr/>
        </p:nvSpPr>
        <p:spPr>
          <a:xfrm>
            <a:off x="5120640" y="1234440"/>
            <a:ext cx="3474720" cy="2651760"/>
          </a:xfrm>
          <a:prstGeom prst="rect">
            <a:avLst/>
          </a:prstGeom>
          <a:noFill/>
          <a:ln/>
        </p:spPr>
        <p:txBody>
          <a:bodyPr wrap="square" lIns="0" tIns="0" rIns="0" bIns="0" rtlCol="0" anchor="ctr"/>
          <a:lstStyle/>
          <a:p>
            <a:pPr indent="0" marL="0">
              <a:buNone/>
            </a:pPr>
            <a:r>
              <a:rPr lang="en-US" sz="1000" i="1" dirty="0">
                <a:solidFill>
                  <a:srgbClr val="1E293B"/>
                </a:solidFill>
                <a:latin typeface="Calibri" pitchFamily="34" charset="0"/>
                <a:ea typeface="Calibri" pitchFamily="34" charset="-122"/>
                <a:cs typeface="Calibri" pitchFamily="34" charset="-120"/>
              </a:rPr>
              <a:t>The patient is a 58-year-old female from Boston, MA presenting with a complex medical history including Type 2 Diabetes Mellitus, Hypertension, and Obesity — conditions that frequently co-occur and mutually exacerbate each other.</a:t>
            </a:r>
            <a:endParaRPr lang="en-US" sz="1000" dirty="0"/>
          </a:p>
          <a:p>
            <a:pPr indent="0" marL="0">
              <a:buNone/>
            </a:pPr>
            <a:endParaRPr lang="en-US" sz="1000" dirty="0"/>
          </a:p>
          <a:p>
            <a:pPr indent="0" marL="0">
              <a:buNone/>
            </a:pPr>
            <a:r>
              <a:rPr lang="en-US" sz="1000" i="1" dirty="0">
                <a:solidFill>
                  <a:srgbClr val="1E293B"/>
                </a:solidFill>
                <a:latin typeface="Calibri" pitchFamily="34" charset="0"/>
                <a:ea typeface="Calibri" pitchFamily="34" charset="-122"/>
                <a:cs typeface="Calibri" pitchFamily="34" charset="-120"/>
              </a:rPr>
              <a:t>She is currently managed on Metformin 500mg for glycemic control and Lisinopril 10mg for blood pressure regulation. Close monitoring of renal function is advisable given the dual burden of diabetes and hypertension.</a:t>
            </a:r>
            <a:endParaRPr lang="en-US" sz="1000" dirty="0"/>
          </a:p>
        </p:txBody>
      </p:sp>
      <p:sp>
        <p:nvSpPr>
          <p:cNvPr id="12" name="Shape 9"/>
          <p:cNvSpPr/>
          <p:nvPr/>
        </p:nvSpPr>
        <p:spPr>
          <a:xfrm>
            <a:off x="0" y="4873752"/>
            <a:ext cx="9144000" cy="269748"/>
          </a:xfrm>
          <a:prstGeom prst="rect">
            <a:avLst/>
          </a:prstGeom>
          <a:solidFill>
            <a:srgbClr val="028090"/>
          </a:solidFill>
          <a:ln w="12700">
            <a:solidFill>
              <a:srgbClr val="028090"/>
            </a:solidFill>
            <a:prstDash val="solid"/>
          </a:ln>
        </p:spPr>
      </p:sp>
      <p:sp>
        <p:nvSpPr>
          <p:cNvPr id="13" name="Text 10"/>
          <p:cNvSpPr/>
          <p:nvPr/>
        </p:nvSpPr>
        <p:spPr>
          <a:xfrm>
            <a:off x="365760" y="4892040"/>
            <a:ext cx="82296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AI in Healthcare  |  Frahim Mohd  |  UT Austin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9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73152"/>
            <a:ext cx="8229600" cy="53035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Chain-of-Thought (CoT) Prompting</a:t>
            </a:r>
            <a:endParaRPr lang="en-US" sz="2400" dirty="0"/>
          </a:p>
        </p:txBody>
      </p:sp>
      <p:sp>
        <p:nvSpPr>
          <p:cNvPr id="4" name="Shape 2"/>
          <p:cNvSpPr/>
          <p:nvPr/>
        </p:nvSpPr>
        <p:spPr>
          <a:xfrm>
            <a:off x="365760" y="777240"/>
            <a:ext cx="8412480" cy="457200"/>
          </a:xfrm>
          <a:prstGeom prst="rect">
            <a:avLst/>
          </a:prstGeom>
          <a:solidFill>
            <a:srgbClr val="028090"/>
          </a:solidFill>
          <a:ln w="12700">
            <a:solidFill>
              <a:srgbClr val="028090"/>
            </a:solidFill>
            <a:prstDash val="solid"/>
          </a:ln>
        </p:spPr>
      </p:sp>
      <p:sp>
        <p:nvSpPr>
          <p:cNvPr id="5" name="Text 3"/>
          <p:cNvSpPr/>
          <p:nvPr/>
        </p:nvSpPr>
        <p:spPr>
          <a:xfrm>
            <a:off x="457200" y="795528"/>
            <a:ext cx="8229600" cy="40233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CoT forces the model to show its reasoning before answering — producing more accurate, explainable outputs</a:t>
            </a:r>
            <a:endParaRPr lang="en-US" sz="1100" dirty="0"/>
          </a:p>
        </p:txBody>
      </p:sp>
      <p:sp>
        <p:nvSpPr>
          <p:cNvPr id="6" name="Shape 4"/>
          <p:cNvSpPr/>
          <p:nvPr/>
        </p:nvSpPr>
        <p:spPr>
          <a:xfrm>
            <a:off x="274320" y="1371600"/>
            <a:ext cx="1920240" cy="256032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7" name="Shape 5"/>
          <p:cNvSpPr/>
          <p:nvPr/>
        </p:nvSpPr>
        <p:spPr>
          <a:xfrm>
            <a:off x="274320" y="1371600"/>
            <a:ext cx="1920240" cy="502920"/>
          </a:xfrm>
          <a:prstGeom prst="rect">
            <a:avLst/>
          </a:prstGeom>
          <a:solidFill>
            <a:srgbClr val="1C7293"/>
          </a:solidFill>
          <a:ln w="12700">
            <a:solidFill>
              <a:srgbClr val="1C7293"/>
            </a:solidFill>
            <a:prstDash val="solid"/>
          </a:ln>
        </p:spPr>
      </p:sp>
      <p:sp>
        <p:nvSpPr>
          <p:cNvPr id="8" name="Text 6"/>
          <p:cNvSpPr/>
          <p:nvPr/>
        </p:nvSpPr>
        <p:spPr>
          <a:xfrm>
            <a:off x="274320" y="1399032"/>
            <a:ext cx="192024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9" name="Text 7"/>
          <p:cNvSpPr/>
          <p:nvPr/>
        </p:nvSpPr>
        <p:spPr>
          <a:xfrm>
            <a:off x="274320" y="1627632"/>
            <a:ext cx="1920240" cy="22860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Identify Terms</a:t>
            </a:r>
            <a:endParaRPr lang="en-US" sz="1100" dirty="0"/>
          </a:p>
        </p:txBody>
      </p:sp>
      <p:sp>
        <p:nvSpPr>
          <p:cNvPr id="10" name="Text 8"/>
          <p:cNvSpPr/>
          <p:nvPr/>
        </p:nvSpPr>
        <p:spPr>
          <a:xfrm>
            <a:off x="365760" y="1965960"/>
            <a:ext cx="1737360" cy="16459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GPT lists every medical term, abbreviation and jargon in the note (e.g. HbA1c, p&lt;0.05, double-blind)</a:t>
            </a:r>
            <a:endParaRPr lang="en-US" sz="950" dirty="0"/>
          </a:p>
        </p:txBody>
      </p:sp>
      <p:sp>
        <p:nvSpPr>
          <p:cNvPr id="11" name="Shape 9"/>
          <p:cNvSpPr/>
          <p:nvPr/>
        </p:nvSpPr>
        <p:spPr>
          <a:xfrm>
            <a:off x="2450592" y="1371600"/>
            <a:ext cx="1920240" cy="256032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12" name="Shape 10"/>
          <p:cNvSpPr/>
          <p:nvPr/>
        </p:nvSpPr>
        <p:spPr>
          <a:xfrm>
            <a:off x="2450592" y="1371600"/>
            <a:ext cx="1920240" cy="502920"/>
          </a:xfrm>
          <a:prstGeom prst="rect">
            <a:avLst/>
          </a:prstGeom>
          <a:solidFill>
            <a:srgbClr val="028090"/>
          </a:solidFill>
          <a:ln w="12700">
            <a:solidFill>
              <a:srgbClr val="028090"/>
            </a:solidFill>
            <a:prstDash val="solid"/>
          </a:ln>
        </p:spPr>
      </p:sp>
      <p:sp>
        <p:nvSpPr>
          <p:cNvPr id="13" name="Text 11"/>
          <p:cNvSpPr/>
          <p:nvPr/>
        </p:nvSpPr>
        <p:spPr>
          <a:xfrm>
            <a:off x="2450592" y="1399032"/>
            <a:ext cx="192024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14" name="Text 12"/>
          <p:cNvSpPr/>
          <p:nvPr/>
        </p:nvSpPr>
        <p:spPr>
          <a:xfrm>
            <a:off x="2450592" y="1627632"/>
            <a:ext cx="1920240" cy="22860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Explain Terms</a:t>
            </a:r>
            <a:endParaRPr lang="en-US" sz="1100" dirty="0"/>
          </a:p>
        </p:txBody>
      </p:sp>
      <p:sp>
        <p:nvSpPr>
          <p:cNvPr id="15" name="Text 13"/>
          <p:cNvSpPr/>
          <p:nvPr/>
        </p:nvSpPr>
        <p:spPr>
          <a:xfrm>
            <a:off x="2542032" y="1965960"/>
            <a:ext cx="1737360" cy="16459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Each identified term is translated into plain English before writing the final simplification</a:t>
            </a:r>
            <a:endParaRPr lang="en-US" sz="950" dirty="0"/>
          </a:p>
        </p:txBody>
      </p:sp>
      <p:sp>
        <p:nvSpPr>
          <p:cNvPr id="16" name="Shape 14"/>
          <p:cNvSpPr/>
          <p:nvPr/>
        </p:nvSpPr>
        <p:spPr>
          <a:xfrm>
            <a:off x="4626864" y="1371600"/>
            <a:ext cx="1920240" cy="256032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4626864" y="1371600"/>
            <a:ext cx="1920240" cy="502920"/>
          </a:xfrm>
          <a:prstGeom prst="rect">
            <a:avLst/>
          </a:prstGeom>
          <a:solidFill>
            <a:srgbClr val="065A82"/>
          </a:solidFill>
          <a:ln w="12700">
            <a:solidFill>
              <a:srgbClr val="065A82"/>
            </a:solidFill>
            <a:prstDash val="solid"/>
          </a:ln>
        </p:spPr>
      </p:sp>
      <p:sp>
        <p:nvSpPr>
          <p:cNvPr id="18" name="Text 16"/>
          <p:cNvSpPr/>
          <p:nvPr/>
        </p:nvSpPr>
        <p:spPr>
          <a:xfrm>
            <a:off x="4626864" y="1399032"/>
            <a:ext cx="192024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9" name="Text 17"/>
          <p:cNvSpPr/>
          <p:nvPr/>
        </p:nvSpPr>
        <p:spPr>
          <a:xfrm>
            <a:off x="4626864" y="1627632"/>
            <a:ext cx="1920240" cy="22860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Key Message</a:t>
            </a:r>
            <a:endParaRPr lang="en-US" sz="1100" dirty="0"/>
          </a:p>
        </p:txBody>
      </p:sp>
      <p:sp>
        <p:nvSpPr>
          <p:cNvPr id="20" name="Text 18"/>
          <p:cNvSpPr/>
          <p:nvPr/>
        </p:nvSpPr>
        <p:spPr>
          <a:xfrm>
            <a:off x="4718304" y="1965960"/>
            <a:ext cx="1737360" cy="16459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GPT distills the single most important takeaway from the clinical note in one sentence</a:t>
            </a:r>
            <a:endParaRPr lang="en-US" sz="950" dirty="0"/>
          </a:p>
        </p:txBody>
      </p:sp>
      <p:sp>
        <p:nvSpPr>
          <p:cNvPr id="21" name="Shape 19"/>
          <p:cNvSpPr/>
          <p:nvPr/>
        </p:nvSpPr>
        <p:spPr>
          <a:xfrm>
            <a:off x="6803136" y="1371600"/>
            <a:ext cx="1920240" cy="256032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22" name="Shape 20"/>
          <p:cNvSpPr/>
          <p:nvPr/>
        </p:nvSpPr>
        <p:spPr>
          <a:xfrm>
            <a:off x="6803136" y="1371600"/>
            <a:ext cx="1920240" cy="502920"/>
          </a:xfrm>
          <a:prstGeom prst="rect">
            <a:avLst/>
          </a:prstGeom>
          <a:solidFill>
            <a:srgbClr val="02C39A"/>
          </a:solidFill>
          <a:ln w="12700">
            <a:solidFill>
              <a:srgbClr val="02C39A"/>
            </a:solidFill>
            <a:prstDash val="solid"/>
          </a:ln>
        </p:spPr>
      </p:sp>
      <p:sp>
        <p:nvSpPr>
          <p:cNvPr id="23" name="Text 21"/>
          <p:cNvSpPr/>
          <p:nvPr/>
        </p:nvSpPr>
        <p:spPr>
          <a:xfrm>
            <a:off x="6803136" y="1399032"/>
            <a:ext cx="192024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6803136" y="1627632"/>
            <a:ext cx="1920240" cy="22860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Final Output</a:t>
            </a:r>
            <a:endParaRPr lang="en-US" sz="1100" dirty="0"/>
          </a:p>
        </p:txBody>
      </p:sp>
      <p:sp>
        <p:nvSpPr>
          <p:cNvPr id="25" name="Text 23"/>
          <p:cNvSpPr/>
          <p:nvPr/>
        </p:nvSpPr>
        <p:spPr>
          <a:xfrm>
            <a:off x="6894576" y="1965960"/>
            <a:ext cx="1737360" cy="16459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Simplified note written using the plain-English explanations from Step 2, tailored to literacy level</a:t>
            </a:r>
            <a:endParaRPr lang="en-US" sz="950" dirty="0"/>
          </a:p>
        </p:txBody>
      </p:sp>
      <p:sp>
        <p:nvSpPr>
          <p:cNvPr id="26" name="Text 24"/>
          <p:cNvSpPr/>
          <p:nvPr/>
        </p:nvSpPr>
        <p:spPr>
          <a:xfrm>
            <a:off x="2103120" y="2514600"/>
            <a:ext cx="274320" cy="320040"/>
          </a:xfrm>
          <a:prstGeom prst="rect">
            <a:avLst/>
          </a:prstGeom>
          <a:noFill/>
          <a:ln/>
        </p:spPr>
        <p:txBody>
          <a:bodyPr wrap="square" lIns="0" tIns="0" rIns="0" bIns="0" rtlCol="0" anchor="ctr"/>
          <a:lstStyle/>
          <a:p>
            <a:pPr algn="ctr" indent="0" marL="0">
              <a:buNone/>
            </a:pPr>
            <a:r>
              <a:rPr lang="en-US" sz="1600" b="1" dirty="0">
                <a:solidFill>
                  <a:srgbClr val="028090"/>
                </a:solidFill>
              </a:rPr>
              <a:t>→</a:t>
            </a:r>
            <a:endParaRPr lang="en-US" sz="1600" dirty="0"/>
          </a:p>
        </p:txBody>
      </p:sp>
      <p:sp>
        <p:nvSpPr>
          <p:cNvPr id="27" name="Text 25"/>
          <p:cNvSpPr/>
          <p:nvPr/>
        </p:nvSpPr>
        <p:spPr>
          <a:xfrm>
            <a:off x="4279392" y="2514600"/>
            <a:ext cx="274320" cy="320040"/>
          </a:xfrm>
          <a:prstGeom prst="rect">
            <a:avLst/>
          </a:prstGeom>
          <a:noFill/>
          <a:ln/>
        </p:spPr>
        <p:txBody>
          <a:bodyPr wrap="square" lIns="0" tIns="0" rIns="0" bIns="0" rtlCol="0" anchor="ctr"/>
          <a:lstStyle/>
          <a:p>
            <a:pPr algn="ctr" indent="0" marL="0">
              <a:buNone/>
            </a:pPr>
            <a:r>
              <a:rPr lang="en-US" sz="1600" b="1" dirty="0">
                <a:solidFill>
                  <a:srgbClr val="028090"/>
                </a:solidFill>
              </a:rPr>
              <a:t>→</a:t>
            </a:r>
            <a:endParaRPr lang="en-US" sz="1600" dirty="0"/>
          </a:p>
        </p:txBody>
      </p:sp>
      <p:sp>
        <p:nvSpPr>
          <p:cNvPr id="28" name="Text 26"/>
          <p:cNvSpPr/>
          <p:nvPr/>
        </p:nvSpPr>
        <p:spPr>
          <a:xfrm>
            <a:off x="6455664" y="2514600"/>
            <a:ext cx="274320" cy="320040"/>
          </a:xfrm>
          <a:prstGeom prst="rect">
            <a:avLst/>
          </a:prstGeom>
          <a:noFill/>
          <a:ln/>
        </p:spPr>
        <p:txBody>
          <a:bodyPr wrap="square" lIns="0" tIns="0" rIns="0" bIns="0" rtlCol="0" anchor="ctr"/>
          <a:lstStyle/>
          <a:p>
            <a:pPr algn="ctr" indent="0" marL="0">
              <a:buNone/>
            </a:pPr>
            <a:r>
              <a:rPr lang="en-US" sz="1600" b="1" dirty="0">
                <a:solidFill>
                  <a:srgbClr val="028090"/>
                </a:solidFill>
              </a:rPr>
              <a:t>→</a:t>
            </a:r>
            <a:endParaRPr lang="en-US" sz="1600" dirty="0"/>
          </a:p>
        </p:txBody>
      </p:sp>
      <p:sp>
        <p:nvSpPr>
          <p:cNvPr id="29" name="Shape 27"/>
          <p:cNvSpPr/>
          <p:nvPr/>
        </p:nvSpPr>
        <p:spPr>
          <a:xfrm>
            <a:off x="365760" y="4069080"/>
            <a:ext cx="8412480" cy="594360"/>
          </a:xfrm>
          <a:prstGeom prst="rect">
            <a:avLst/>
          </a:prstGeom>
          <a:solidFill>
            <a:srgbClr val="E0F2F7"/>
          </a:solidFill>
          <a:ln w="12700">
            <a:solidFill>
              <a:srgbClr val="E0F2F7"/>
            </a:solidFill>
            <a:prstDash val="solid"/>
          </a:ln>
        </p:spPr>
      </p:sp>
      <p:sp>
        <p:nvSpPr>
          <p:cNvPr id="30" name="Text 28"/>
          <p:cNvSpPr/>
          <p:nvPr/>
        </p:nvSpPr>
        <p:spPr>
          <a:xfrm>
            <a:off x="457200" y="4096512"/>
            <a:ext cx="8229600" cy="530352"/>
          </a:xfrm>
          <a:prstGeom prst="rect">
            <a:avLst/>
          </a:prstGeom>
          <a:noFill/>
          <a:ln/>
        </p:spPr>
        <p:txBody>
          <a:bodyPr wrap="square" lIns="0" tIns="0" rIns="0" bIns="0" rtlCol="0" anchor="ctr"/>
          <a:lstStyle/>
          <a:p>
            <a:pPr indent="0" marL="0">
              <a:buNone/>
            </a:pPr>
            <a:r>
              <a:rPr lang="en-US" sz="950" i="1" dirty="0">
                <a:solidFill>
                  <a:srgbClr val="1E293B"/>
                </a:solidFill>
                <a:latin typeface="Calibri" pitchFamily="34" charset="0"/>
                <a:ea typeface="Calibri" pitchFamily="34" charset="-122"/>
                <a:cs typeface="Calibri" pitchFamily="34" charset="-120"/>
              </a:rPr>
              <a:t>📤  Example CoT Output (5th Grade): "The key message is: a diabetes medicine called Metformin helped lower blood sugar (HbA1c = a measure of long-term blood sugar) more than a fake pill did."</a:t>
            </a:r>
            <a:endParaRPr lang="en-US" sz="950" dirty="0"/>
          </a:p>
        </p:txBody>
      </p:sp>
      <p:sp>
        <p:nvSpPr>
          <p:cNvPr id="31" name="Shape 29"/>
          <p:cNvSpPr/>
          <p:nvPr/>
        </p:nvSpPr>
        <p:spPr>
          <a:xfrm>
            <a:off x="0" y="4873752"/>
            <a:ext cx="9144000" cy="269748"/>
          </a:xfrm>
          <a:prstGeom prst="rect">
            <a:avLst/>
          </a:prstGeom>
          <a:solidFill>
            <a:srgbClr val="028090"/>
          </a:solidFill>
          <a:ln w="12700">
            <a:solidFill>
              <a:srgbClr val="028090"/>
            </a:solidFill>
            <a:prstDash val="solid"/>
          </a:ln>
        </p:spPr>
      </p:sp>
      <p:sp>
        <p:nvSpPr>
          <p:cNvPr id="32" name="Text 30"/>
          <p:cNvSpPr/>
          <p:nvPr/>
        </p:nvSpPr>
        <p:spPr>
          <a:xfrm>
            <a:off x="365760" y="4892040"/>
            <a:ext cx="82296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AI in Healthcare  |  Frahim Mohd  |  UT Austin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9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73152"/>
            <a:ext cx="8229600" cy="53035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  Tree-of-Thought (ToT) Prompting</a:t>
            </a:r>
            <a:endParaRPr lang="en-US" sz="2400" dirty="0"/>
          </a:p>
        </p:txBody>
      </p:sp>
      <p:sp>
        <p:nvSpPr>
          <p:cNvPr id="4" name="Shape 2"/>
          <p:cNvSpPr/>
          <p:nvPr/>
        </p:nvSpPr>
        <p:spPr>
          <a:xfrm>
            <a:off x="365760" y="777240"/>
            <a:ext cx="8412480" cy="457200"/>
          </a:xfrm>
          <a:prstGeom prst="rect">
            <a:avLst/>
          </a:prstGeom>
          <a:solidFill>
            <a:srgbClr val="02C39A"/>
          </a:solidFill>
          <a:ln w="12700">
            <a:solidFill>
              <a:srgbClr val="02C39A"/>
            </a:solidFill>
            <a:prstDash val="solid"/>
          </a:ln>
        </p:spPr>
      </p:sp>
      <p:sp>
        <p:nvSpPr>
          <p:cNvPr id="5" name="Text 3"/>
          <p:cNvSpPr/>
          <p:nvPr/>
        </p:nvSpPr>
        <p:spPr>
          <a:xfrm>
            <a:off x="457200" y="795528"/>
            <a:ext cx="8229600" cy="402336"/>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  ToT explores multiple reasoning paths simultaneously — like a panel of experts — before selecting the best answer</a:t>
            </a:r>
            <a:endParaRPr lang="en-US" sz="1100" dirty="0"/>
          </a:p>
        </p:txBody>
      </p:sp>
      <p:sp>
        <p:nvSpPr>
          <p:cNvPr id="6" name="Shape 4"/>
          <p:cNvSpPr/>
          <p:nvPr/>
        </p:nvSpPr>
        <p:spPr>
          <a:xfrm>
            <a:off x="3474720" y="1371600"/>
            <a:ext cx="2194560" cy="457200"/>
          </a:xfrm>
          <a:prstGeom prst="rect">
            <a:avLst/>
          </a:prstGeom>
          <a:solidFill>
            <a:srgbClr val="065A82"/>
          </a:solidFill>
          <a:ln w="12700">
            <a:solidFill>
              <a:srgbClr val="065A82"/>
            </a:solidFill>
            <a:prstDash val="solid"/>
          </a:ln>
        </p:spPr>
      </p:sp>
      <p:sp>
        <p:nvSpPr>
          <p:cNvPr id="7" name="Text 5"/>
          <p:cNvSpPr/>
          <p:nvPr/>
        </p:nvSpPr>
        <p:spPr>
          <a:xfrm>
            <a:off x="3474720" y="1389888"/>
            <a:ext cx="219456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Medical Note</a:t>
            </a:r>
            <a:endParaRPr lang="en-US" sz="1200" dirty="0"/>
          </a:p>
        </p:txBody>
      </p:sp>
      <p:sp>
        <p:nvSpPr>
          <p:cNvPr id="8" name="Shape 6"/>
          <p:cNvSpPr/>
          <p:nvPr/>
        </p:nvSpPr>
        <p:spPr>
          <a:xfrm>
            <a:off x="1645920" y="2029968"/>
            <a:ext cx="2011680" cy="0"/>
          </a:xfrm>
          <a:prstGeom prst="line">
            <a:avLst/>
          </a:prstGeom>
          <a:noFill/>
          <a:ln w="19050">
            <a:solidFill>
              <a:srgbClr val="028090"/>
            </a:solidFill>
            <a:prstDash val="solid"/>
          </a:ln>
        </p:spPr>
      </p:sp>
      <p:sp>
        <p:nvSpPr>
          <p:cNvPr id="9" name="Shape 7"/>
          <p:cNvSpPr/>
          <p:nvPr/>
        </p:nvSpPr>
        <p:spPr>
          <a:xfrm>
            <a:off x="4114800" y="1828800"/>
            <a:ext cx="0" cy="201168"/>
          </a:xfrm>
          <a:prstGeom prst="line">
            <a:avLst/>
          </a:prstGeom>
          <a:noFill/>
          <a:ln w="19050">
            <a:solidFill>
              <a:srgbClr val="028090"/>
            </a:solidFill>
            <a:prstDash val="solid"/>
          </a:ln>
        </p:spPr>
      </p:sp>
      <p:sp>
        <p:nvSpPr>
          <p:cNvPr id="10" name="Shape 8"/>
          <p:cNvSpPr/>
          <p:nvPr/>
        </p:nvSpPr>
        <p:spPr>
          <a:xfrm>
            <a:off x="5486400" y="2029968"/>
            <a:ext cx="2011680" cy="0"/>
          </a:xfrm>
          <a:prstGeom prst="line">
            <a:avLst/>
          </a:prstGeom>
          <a:noFill/>
          <a:ln w="19050">
            <a:solidFill>
              <a:srgbClr val="028090"/>
            </a:solidFill>
            <a:prstDash val="solid"/>
          </a:ln>
        </p:spPr>
      </p:sp>
      <p:sp>
        <p:nvSpPr>
          <p:cNvPr id="11" name="Shape 9"/>
          <p:cNvSpPr/>
          <p:nvPr/>
        </p:nvSpPr>
        <p:spPr>
          <a:xfrm>
            <a:off x="1645920" y="1828800"/>
            <a:ext cx="0" cy="201168"/>
          </a:xfrm>
          <a:prstGeom prst="line">
            <a:avLst/>
          </a:prstGeom>
          <a:noFill/>
          <a:ln w="19050">
            <a:solidFill>
              <a:srgbClr val="028090"/>
            </a:solidFill>
            <a:prstDash val="solid"/>
          </a:ln>
        </p:spPr>
      </p:sp>
      <p:sp>
        <p:nvSpPr>
          <p:cNvPr id="12" name="Shape 10"/>
          <p:cNvSpPr/>
          <p:nvPr/>
        </p:nvSpPr>
        <p:spPr>
          <a:xfrm>
            <a:off x="7498080" y="1828800"/>
            <a:ext cx="0" cy="201168"/>
          </a:xfrm>
          <a:prstGeom prst="line">
            <a:avLst/>
          </a:prstGeom>
          <a:noFill/>
          <a:ln w="19050">
            <a:solidFill>
              <a:srgbClr val="028090"/>
            </a:solidFill>
            <a:prstDash val="solid"/>
          </a:ln>
        </p:spPr>
      </p:sp>
      <p:sp>
        <p:nvSpPr>
          <p:cNvPr id="13" name="Shape 11"/>
          <p:cNvSpPr/>
          <p:nvPr/>
        </p:nvSpPr>
        <p:spPr>
          <a:xfrm>
            <a:off x="365760" y="2029968"/>
            <a:ext cx="2194560" cy="137160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365760" y="2029968"/>
            <a:ext cx="2194560" cy="320040"/>
          </a:xfrm>
          <a:prstGeom prst="rect">
            <a:avLst/>
          </a:prstGeom>
          <a:solidFill>
            <a:srgbClr val="1C7293"/>
          </a:solidFill>
          <a:ln w="12700">
            <a:solidFill>
              <a:srgbClr val="1C7293"/>
            </a:solidFill>
            <a:prstDash val="solid"/>
          </a:ln>
        </p:spPr>
      </p:sp>
      <p:sp>
        <p:nvSpPr>
          <p:cNvPr id="15" name="Text 13"/>
          <p:cNvSpPr/>
          <p:nvPr/>
        </p:nvSpPr>
        <p:spPr>
          <a:xfrm>
            <a:off x="365760" y="2048256"/>
            <a:ext cx="2194560"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Expert 1 — Diagnosis Focus</a:t>
            </a:r>
            <a:endParaRPr lang="en-US" sz="900" dirty="0"/>
          </a:p>
        </p:txBody>
      </p:sp>
      <p:sp>
        <p:nvSpPr>
          <p:cNvPr id="16" name="Text 14"/>
          <p:cNvSpPr/>
          <p:nvPr/>
        </p:nvSpPr>
        <p:spPr>
          <a:xfrm>
            <a:off x="457200" y="2395728"/>
            <a:ext cx="2011680" cy="64008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What condition is this? What does it mean for the patient?</a:t>
            </a:r>
            <a:endParaRPr lang="en-US" sz="950" dirty="0"/>
          </a:p>
        </p:txBody>
      </p:sp>
      <p:sp>
        <p:nvSpPr>
          <p:cNvPr id="17" name="Shape 15"/>
          <p:cNvSpPr/>
          <p:nvPr/>
        </p:nvSpPr>
        <p:spPr>
          <a:xfrm>
            <a:off x="914400" y="3090672"/>
            <a:ext cx="1097280" cy="256032"/>
          </a:xfrm>
          <a:prstGeom prst="rect">
            <a:avLst/>
          </a:prstGeom>
          <a:solidFill>
            <a:srgbClr val="02C39A"/>
          </a:solidFill>
          <a:ln w="12700">
            <a:solidFill>
              <a:srgbClr val="02C39A"/>
            </a:solidFill>
            <a:prstDash val="solid"/>
          </a:ln>
        </p:spPr>
      </p:sp>
      <p:sp>
        <p:nvSpPr>
          <p:cNvPr id="18" name="Text 16"/>
          <p:cNvSpPr/>
          <p:nvPr/>
        </p:nvSpPr>
        <p:spPr>
          <a:xfrm>
            <a:off x="914400" y="3090672"/>
            <a:ext cx="1097280" cy="256032"/>
          </a:xfrm>
          <a:prstGeom prst="rect">
            <a:avLst/>
          </a:prstGeom>
          <a:noFill/>
          <a:ln/>
        </p:spPr>
        <p:txBody>
          <a:bodyPr wrap="square" lIns="0" tIns="0" rIns="0" bIns="0" rtlCol="0" anchor="ctr"/>
          <a:lstStyle/>
          <a:p>
            <a:pPr algn="ctr" indent="0" marL="0">
              <a:buNone/>
            </a:pPr>
            <a:r>
              <a:rPr lang="en-US" sz="1000" b="1" dirty="0">
                <a:solidFill>
                  <a:srgbClr val="065A82"/>
                </a:solidFill>
                <a:latin typeface="Calibri" pitchFamily="34" charset="0"/>
                <a:ea typeface="Calibri" pitchFamily="34" charset="-122"/>
                <a:cs typeface="Calibri" pitchFamily="34" charset="-120"/>
              </a:rPr>
              <a:t>Score: 8/10</a:t>
            </a:r>
            <a:endParaRPr lang="en-US" sz="1000" dirty="0"/>
          </a:p>
        </p:txBody>
      </p:sp>
      <p:sp>
        <p:nvSpPr>
          <p:cNvPr id="19" name="Shape 17"/>
          <p:cNvSpPr/>
          <p:nvPr/>
        </p:nvSpPr>
        <p:spPr>
          <a:xfrm>
            <a:off x="3474720" y="2029968"/>
            <a:ext cx="2194560" cy="137160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20" name="Shape 18"/>
          <p:cNvSpPr/>
          <p:nvPr/>
        </p:nvSpPr>
        <p:spPr>
          <a:xfrm>
            <a:off x="3474720" y="2029968"/>
            <a:ext cx="2194560" cy="320040"/>
          </a:xfrm>
          <a:prstGeom prst="rect">
            <a:avLst/>
          </a:prstGeom>
          <a:solidFill>
            <a:srgbClr val="1C7293"/>
          </a:solidFill>
          <a:ln w="12700">
            <a:solidFill>
              <a:srgbClr val="1C7293"/>
            </a:solidFill>
            <a:prstDash val="solid"/>
          </a:ln>
        </p:spPr>
      </p:sp>
      <p:sp>
        <p:nvSpPr>
          <p:cNvPr id="21" name="Text 19"/>
          <p:cNvSpPr/>
          <p:nvPr/>
        </p:nvSpPr>
        <p:spPr>
          <a:xfrm>
            <a:off x="3474720" y="2048256"/>
            <a:ext cx="2194560"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Expert 2 — Treatment Focus</a:t>
            </a:r>
            <a:endParaRPr lang="en-US" sz="900" dirty="0"/>
          </a:p>
        </p:txBody>
      </p:sp>
      <p:sp>
        <p:nvSpPr>
          <p:cNvPr id="22" name="Text 20"/>
          <p:cNvSpPr/>
          <p:nvPr/>
        </p:nvSpPr>
        <p:spPr>
          <a:xfrm>
            <a:off x="3566160" y="2395728"/>
            <a:ext cx="2011680" cy="64008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What medicine was given? Did it work? Any side effects?</a:t>
            </a:r>
            <a:endParaRPr lang="en-US" sz="950" dirty="0"/>
          </a:p>
        </p:txBody>
      </p:sp>
      <p:sp>
        <p:nvSpPr>
          <p:cNvPr id="23" name="Shape 21"/>
          <p:cNvSpPr/>
          <p:nvPr/>
        </p:nvSpPr>
        <p:spPr>
          <a:xfrm>
            <a:off x="4023360" y="3090672"/>
            <a:ext cx="1097280" cy="256032"/>
          </a:xfrm>
          <a:prstGeom prst="rect">
            <a:avLst/>
          </a:prstGeom>
          <a:solidFill>
            <a:srgbClr val="02C39A"/>
          </a:solidFill>
          <a:ln w="12700">
            <a:solidFill>
              <a:srgbClr val="02C39A"/>
            </a:solidFill>
            <a:prstDash val="solid"/>
          </a:ln>
        </p:spPr>
      </p:sp>
      <p:sp>
        <p:nvSpPr>
          <p:cNvPr id="24" name="Text 22"/>
          <p:cNvSpPr/>
          <p:nvPr/>
        </p:nvSpPr>
        <p:spPr>
          <a:xfrm>
            <a:off x="4023360" y="3090672"/>
            <a:ext cx="1097280" cy="256032"/>
          </a:xfrm>
          <a:prstGeom prst="rect">
            <a:avLst/>
          </a:prstGeom>
          <a:noFill/>
          <a:ln/>
        </p:spPr>
        <p:txBody>
          <a:bodyPr wrap="square" lIns="0" tIns="0" rIns="0" bIns="0" rtlCol="0" anchor="ctr"/>
          <a:lstStyle/>
          <a:p>
            <a:pPr algn="ctr" indent="0" marL="0">
              <a:buNone/>
            </a:pPr>
            <a:r>
              <a:rPr lang="en-US" sz="1000" b="1" dirty="0">
                <a:solidFill>
                  <a:srgbClr val="065A82"/>
                </a:solidFill>
                <a:latin typeface="Calibri" pitchFamily="34" charset="0"/>
                <a:ea typeface="Calibri" pitchFamily="34" charset="-122"/>
                <a:cs typeface="Calibri" pitchFamily="34" charset="-120"/>
              </a:rPr>
              <a:t>Score: 7/10</a:t>
            </a:r>
            <a:endParaRPr lang="en-US" sz="1000" dirty="0"/>
          </a:p>
        </p:txBody>
      </p:sp>
      <p:sp>
        <p:nvSpPr>
          <p:cNvPr id="25" name="Shape 23"/>
          <p:cNvSpPr/>
          <p:nvPr/>
        </p:nvSpPr>
        <p:spPr>
          <a:xfrm>
            <a:off x="6583680" y="2029968"/>
            <a:ext cx="2194560" cy="1371600"/>
          </a:xfrm>
          <a:prstGeom prst="rect">
            <a:avLst/>
          </a:prstGeom>
          <a:solidFill>
            <a:srgbClr val="FFFFFF"/>
          </a:solidFill>
          <a:ln w="12700">
            <a:solidFill>
              <a:srgbClr val="E0F2F7"/>
            </a:solidFill>
            <a:prstDash val="solid"/>
          </a:ln>
          <a:effectLst>
            <a:outerShdw sx="100000" sy="100000" kx="0" ky="0" algn="bl" rotWithShape="0" blurRad="76200" dist="25400" dir="8100000">
              <a:srgbClr val="000000">
                <a:alpha val="12000"/>
              </a:srgbClr>
            </a:outerShdw>
          </a:effectLst>
        </p:spPr>
      </p:sp>
      <p:sp>
        <p:nvSpPr>
          <p:cNvPr id="26" name="Shape 24"/>
          <p:cNvSpPr/>
          <p:nvPr/>
        </p:nvSpPr>
        <p:spPr>
          <a:xfrm>
            <a:off x="6583680" y="2029968"/>
            <a:ext cx="2194560" cy="320040"/>
          </a:xfrm>
          <a:prstGeom prst="rect">
            <a:avLst/>
          </a:prstGeom>
          <a:solidFill>
            <a:srgbClr val="1C7293"/>
          </a:solidFill>
          <a:ln w="12700">
            <a:solidFill>
              <a:srgbClr val="1C7293"/>
            </a:solidFill>
            <a:prstDash val="solid"/>
          </a:ln>
        </p:spPr>
      </p:sp>
      <p:sp>
        <p:nvSpPr>
          <p:cNvPr id="27" name="Text 25"/>
          <p:cNvSpPr/>
          <p:nvPr/>
        </p:nvSpPr>
        <p:spPr>
          <a:xfrm>
            <a:off x="6583680" y="2048256"/>
            <a:ext cx="2194560" cy="2834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Expert 3 — Outcomes Focus</a:t>
            </a:r>
            <a:endParaRPr lang="en-US" sz="900" dirty="0"/>
          </a:p>
        </p:txBody>
      </p:sp>
      <p:sp>
        <p:nvSpPr>
          <p:cNvPr id="28" name="Text 26"/>
          <p:cNvSpPr/>
          <p:nvPr/>
        </p:nvSpPr>
        <p:spPr>
          <a:xfrm>
            <a:off x="6675120" y="2395728"/>
            <a:ext cx="2011680" cy="64008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What happened to patients? Results and what to expect next.</a:t>
            </a:r>
            <a:endParaRPr lang="en-US" sz="950" dirty="0"/>
          </a:p>
        </p:txBody>
      </p:sp>
      <p:sp>
        <p:nvSpPr>
          <p:cNvPr id="29" name="Shape 27"/>
          <p:cNvSpPr/>
          <p:nvPr/>
        </p:nvSpPr>
        <p:spPr>
          <a:xfrm>
            <a:off x="7132320" y="3090672"/>
            <a:ext cx="1097280" cy="256032"/>
          </a:xfrm>
          <a:prstGeom prst="rect">
            <a:avLst/>
          </a:prstGeom>
          <a:solidFill>
            <a:srgbClr val="02C39A"/>
          </a:solidFill>
          <a:ln w="12700">
            <a:solidFill>
              <a:srgbClr val="02C39A"/>
            </a:solidFill>
            <a:prstDash val="solid"/>
          </a:ln>
        </p:spPr>
      </p:sp>
      <p:sp>
        <p:nvSpPr>
          <p:cNvPr id="30" name="Text 28"/>
          <p:cNvSpPr/>
          <p:nvPr/>
        </p:nvSpPr>
        <p:spPr>
          <a:xfrm>
            <a:off x="7132320" y="3090672"/>
            <a:ext cx="1097280" cy="256032"/>
          </a:xfrm>
          <a:prstGeom prst="rect">
            <a:avLst/>
          </a:prstGeom>
          <a:noFill/>
          <a:ln/>
        </p:spPr>
        <p:txBody>
          <a:bodyPr wrap="square" lIns="0" tIns="0" rIns="0" bIns="0" rtlCol="0" anchor="ctr"/>
          <a:lstStyle/>
          <a:p>
            <a:pPr algn="ctr" indent="0" marL="0">
              <a:buNone/>
            </a:pPr>
            <a:r>
              <a:rPr lang="en-US" sz="1000" b="1" dirty="0">
                <a:solidFill>
                  <a:srgbClr val="065A82"/>
                </a:solidFill>
                <a:latin typeface="Calibri" pitchFamily="34" charset="0"/>
                <a:ea typeface="Calibri" pitchFamily="34" charset="-122"/>
                <a:cs typeface="Calibri" pitchFamily="34" charset="-120"/>
              </a:rPr>
              <a:t>Score: 9/10</a:t>
            </a:r>
            <a:endParaRPr lang="en-US" sz="1000" dirty="0"/>
          </a:p>
        </p:txBody>
      </p:sp>
      <p:sp>
        <p:nvSpPr>
          <p:cNvPr id="31" name="Shape 29"/>
          <p:cNvSpPr/>
          <p:nvPr/>
        </p:nvSpPr>
        <p:spPr>
          <a:xfrm>
            <a:off x="1463040" y="3456432"/>
            <a:ext cx="1737360" cy="0"/>
          </a:xfrm>
          <a:prstGeom prst="line">
            <a:avLst/>
          </a:prstGeom>
          <a:noFill/>
          <a:ln w="19050">
            <a:solidFill>
              <a:srgbClr val="028090"/>
            </a:solidFill>
            <a:prstDash val="solid"/>
          </a:ln>
        </p:spPr>
      </p:sp>
      <p:sp>
        <p:nvSpPr>
          <p:cNvPr id="32" name="Shape 30"/>
          <p:cNvSpPr/>
          <p:nvPr/>
        </p:nvSpPr>
        <p:spPr>
          <a:xfrm>
            <a:off x="4114800" y="3401568"/>
            <a:ext cx="0" cy="201168"/>
          </a:xfrm>
          <a:prstGeom prst="line">
            <a:avLst/>
          </a:prstGeom>
          <a:noFill/>
          <a:ln w="19050">
            <a:solidFill>
              <a:srgbClr val="028090"/>
            </a:solidFill>
            <a:prstDash val="solid"/>
          </a:ln>
        </p:spPr>
      </p:sp>
      <p:sp>
        <p:nvSpPr>
          <p:cNvPr id="33" name="Shape 31"/>
          <p:cNvSpPr/>
          <p:nvPr/>
        </p:nvSpPr>
        <p:spPr>
          <a:xfrm>
            <a:off x="5943600" y="3456432"/>
            <a:ext cx="1554480" cy="0"/>
          </a:xfrm>
          <a:prstGeom prst="line">
            <a:avLst/>
          </a:prstGeom>
          <a:noFill/>
          <a:ln w="19050">
            <a:solidFill>
              <a:srgbClr val="028090"/>
            </a:solidFill>
            <a:prstDash val="solid"/>
          </a:ln>
        </p:spPr>
      </p:sp>
      <p:sp>
        <p:nvSpPr>
          <p:cNvPr id="34" name="Shape 32"/>
          <p:cNvSpPr/>
          <p:nvPr/>
        </p:nvSpPr>
        <p:spPr>
          <a:xfrm>
            <a:off x="1463040" y="3401568"/>
            <a:ext cx="0" cy="201168"/>
          </a:xfrm>
          <a:prstGeom prst="line">
            <a:avLst/>
          </a:prstGeom>
          <a:noFill/>
          <a:ln w="19050">
            <a:solidFill>
              <a:srgbClr val="028090"/>
            </a:solidFill>
            <a:prstDash val="solid"/>
          </a:ln>
        </p:spPr>
      </p:sp>
      <p:sp>
        <p:nvSpPr>
          <p:cNvPr id="35" name="Shape 33"/>
          <p:cNvSpPr/>
          <p:nvPr/>
        </p:nvSpPr>
        <p:spPr>
          <a:xfrm>
            <a:off x="7498080" y="3401568"/>
            <a:ext cx="0" cy="201168"/>
          </a:xfrm>
          <a:prstGeom prst="line">
            <a:avLst/>
          </a:prstGeom>
          <a:noFill/>
          <a:ln w="19050">
            <a:solidFill>
              <a:srgbClr val="028090"/>
            </a:solidFill>
            <a:prstDash val="solid"/>
          </a:ln>
        </p:spPr>
      </p:sp>
      <p:sp>
        <p:nvSpPr>
          <p:cNvPr id="36" name="Shape 34"/>
          <p:cNvSpPr/>
          <p:nvPr/>
        </p:nvSpPr>
        <p:spPr>
          <a:xfrm>
            <a:off x="2743200" y="3456432"/>
            <a:ext cx="3657600" cy="594360"/>
          </a:xfrm>
          <a:prstGeom prst="rect">
            <a:avLst/>
          </a:prstGeom>
          <a:solidFill>
            <a:srgbClr val="065A82"/>
          </a:solidFill>
          <a:ln w="12700">
            <a:solidFill>
              <a:srgbClr val="065A82"/>
            </a:solidFill>
            <a:prstDash val="solid"/>
          </a:ln>
          <a:effectLst>
            <a:outerShdw sx="100000" sy="100000" kx="0" ky="0" algn="bl" rotWithShape="0" blurRad="76200" dist="25400" dir="8100000">
              <a:srgbClr val="000000">
                <a:alpha val="12000"/>
              </a:srgbClr>
            </a:outerShdw>
          </a:effectLst>
        </p:spPr>
      </p:sp>
      <p:sp>
        <p:nvSpPr>
          <p:cNvPr id="37" name="Text 35"/>
          <p:cNvSpPr/>
          <p:nvPr/>
        </p:nvSpPr>
        <p:spPr>
          <a:xfrm>
            <a:off x="2743200" y="3493008"/>
            <a:ext cx="3657600" cy="502920"/>
          </a:xfrm>
          <a:prstGeom prst="rect">
            <a:avLst/>
          </a:prstGeom>
          <a:noFill/>
          <a:ln/>
        </p:spPr>
        <p:txBody>
          <a:bodyPr wrap="square" lIns="0" tIns="0" rIns="0" bIns="0" rtlCol="0" anchor="ctr"/>
          <a:lstStyle/>
          <a:p>
            <a:pPr algn="ctr" indent="0" marL="0">
              <a:buNone/>
            </a:pPr>
            <a:r>
              <a:rPr lang="en-US" sz="1100" b="1" dirty="0">
                <a:solidFill>
                  <a:srgbClr val="02C39A"/>
                </a:solidFill>
                <a:latin typeface="Calibri" pitchFamily="34" charset="0"/>
                <a:ea typeface="Calibri" pitchFamily="34" charset="-122"/>
                <a:cs typeface="Calibri" pitchFamily="34" charset="-120"/>
              </a:rPr>
              <a:t>🏆  Best Path Selected + Combined Final Output</a:t>
            </a:r>
            <a:endParaRPr lang="en-US" sz="1100" dirty="0"/>
          </a:p>
        </p:txBody>
      </p:sp>
      <p:sp>
        <p:nvSpPr>
          <p:cNvPr id="38" name="Shape 36"/>
          <p:cNvSpPr/>
          <p:nvPr/>
        </p:nvSpPr>
        <p:spPr>
          <a:xfrm>
            <a:off x="0" y="4873752"/>
            <a:ext cx="9144000" cy="269748"/>
          </a:xfrm>
          <a:prstGeom prst="rect">
            <a:avLst/>
          </a:prstGeom>
          <a:solidFill>
            <a:srgbClr val="028090"/>
          </a:solidFill>
          <a:ln w="12700">
            <a:solidFill>
              <a:srgbClr val="028090"/>
            </a:solidFill>
            <a:prstDash val="solid"/>
          </a:ln>
        </p:spPr>
      </p:sp>
      <p:sp>
        <p:nvSpPr>
          <p:cNvPr id="39" name="Text 37"/>
          <p:cNvSpPr/>
          <p:nvPr/>
        </p:nvSpPr>
        <p:spPr>
          <a:xfrm>
            <a:off x="365760" y="4892040"/>
            <a:ext cx="82296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AI in Healthcare  |  Frahim Mohd  |  UT Austin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9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73152"/>
            <a:ext cx="8229600" cy="53035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  Evaluation Results — LLM-as-Judge</a:t>
            </a:r>
            <a:endParaRPr lang="en-US" sz="2400" dirty="0"/>
          </a:p>
        </p:txBody>
      </p:sp>
      <p:sp>
        <p:nvSpPr>
          <p:cNvPr id="4" name="Text 2"/>
          <p:cNvSpPr/>
          <p:nvPr/>
        </p:nvSpPr>
        <p:spPr>
          <a:xfrm>
            <a:off x="365760" y="777240"/>
            <a:ext cx="841248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Method evaluated on Clarity, Accuracy &amp; Appropriateness (each scored 1–10 by GPT-as-Judge)</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8412480" cy="2011680"/>
        </p:xfrm>
        <a:graphic>
          <a:graphicData uri="http://schemas.openxmlformats.org/drawingml/2006/table">
            <a:tbl>
              <a:tblPr/>
              <a:tblGrid>
                <a:gridCol w="2926080"/>
                <a:gridCol w="1371600"/>
                <a:gridCol w="1371600"/>
                <a:gridCol w="1828800"/>
                <a:gridCol w="91440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Clarity</a:t>
                      </a:r>
                      <a:endParaRPr lang="en-US" sz="11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Appropriateness</a:t>
                      </a:r>
                      <a:endParaRPr lang="en-US" sz="11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Total /30</a:t>
                      </a:r>
                      <a:endParaRPr lang="en-US" sz="110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065A82"/>
                    </a:solidFill>
                  </a:tcPr>
                </a:tc>
              </a:tr>
              <a:tr h="384048">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Zero-Shot</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tcPr>
                </a:tc>
                <a:tc>
                  <a:txBody>
                    <a:bodyPr/>
                    <a:lstStyle/>
                    <a:p>
                      <a:pPr algn="ctr" indent="0" marL="0">
                        <a:buNone/>
                      </a:pPr>
                      <a:r>
                        <a:rPr lang="en-US" sz="1050" dirty="0">
                          <a:solidFill>
                            <a:srgbClr val="1E293B"/>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tcPr>
                </a:tc>
                <a:tc>
                  <a:txBody>
                    <a:bodyPr/>
                    <a:lstStyle/>
                    <a:p>
                      <a:pPr algn="ctr" indent="0" marL="0">
                        <a:buNone/>
                      </a:pPr>
                      <a:r>
                        <a:rPr lang="en-US" sz="1050" dirty="0">
                          <a:solidFill>
                            <a:srgbClr val="1E293B"/>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tcPr>
                </a:tc>
                <a:tc>
                  <a:txBody>
                    <a:bodyPr/>
                    <a:lstStyle/>
                    <a:p>
                      <a:pPr algn="ctr" indent="0" marL="0">
                        <a:buNone/>
                      </a:pPr>
                      <a:r>
                        <a:rPr lang="en-US" sz="1050" dirty="0">
                          <a:solidFill>
                            <a:srgbClr val="1E293B"/>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tcPr>
                </a:tc>
                <a:tc>
                  <a:txBody>
                    <a:bodyPr/>
                    <a:lstStyle/>
                    <a:p>
                      <a:pPr algn="ctr" indent="0" marL="0">
                        <a:buNone/>
                      </a:pPr>
                      <a:r>
                        <a:rPr lang="en-US" sz="1050" b="1" dirty="0">
                          <a:solidFill>
                            <a:srgbClr val="1E293B"/>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tcPr>
                </a:tc>
              </a:tr>
              <a:tr h="384048">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Few-Shot (ICL)</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tcPr>
                </a:tc>
                <a:tc>
                  <a:txBody>
                    <a:bodyPr/>
                    <a:lstStyle/>
                    <a:p>
                      <a:pPr algn="ctr" indent="0" marL="0">
                        <a:buNone/>
                      </a:pPr>
                      <a:r>
                        <a:rPr lang="en-US" sz="1050" dirty="0">
                          <a:solidFill>
                            <a:srgbClr val="1E293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tcPr>
                </a:tc>
                <a:tc>
                  <a:txBody>
                    <a:bodyPr/>
                    <a:lstStyle/>
                    <a:p>
                      <a:pPr algn="ctr" indent="0" marL="0">
                        <a:buNone/>
                      </a:pPr>
                      <a:r>
                        <a:rPr lang="en-US" sz="1050" dirty="0">
                          <a:solidFill>
                            <a:srgbClr val="1E293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tcPr>
                </a:tc>
                <a:tc>
                  <a:txBody>
                    <a:bodyPr/>
                    <a:lstStyle/>
                    <a:p>
                      <a:pPr algn="ctr" indent="0" marL="0">
                        <a:buNone/>
                      </a:pPr>
                      <a:r>
                        <a:rPr lang="en-US" sz="1050" dirty="0">
                          <a:solidFill>
                            <a:srgbClr val="1E293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tcPr>
                </a:tc>
                <a:tc>
                  <a:txBody>
                    <a:bodyPr/>
                    <a:lstStyle/>
                    <a:p>
                      <a:pPr algn="ctr" indent="0" marL="0">
                        <a:buNone/>
                      </a:pPr>
                      <a:r>
                        <a:rPr lang="en-US" sz="1050" b="1" dirty="0">
                          <a:solidFill>
                            <a:srgbClr val="1E293B"/>
                          </a:solidFill>
                          <a:latin typeface="Calibri" pitchFamily="34" charset="0"/>
                          <a:ea typeface="Calibri" pitchFamily="34" charset="-122"/>
                          <a:cs typeface="Calibri" pitchFamily="34" charset="-120"/>
                        </a:rPr>
                        <a:t>24</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tcPr>
                </a:tc>
              </a:tr>
              <a:tr h="384048">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Chain-of-Thought</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tcPr>
                </a:tc>
                <a:tc>
                  <a:txBody>
                    <a:bodyPr/>
                    <a:lstStyle/>
                    <a:p>
                      <a:pPr algn="ctr" indent="0" marL="0">
                        <a:buNone/>
                      </a:pPr>
                      <a:r>
                        <a:rPr lang="en-US" sz="1050" dirty="0">
                          <a:solidFill>
                            <a:srgbClr val="1E293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tcPr>
                </a:tc>
                <a:tc>
                  <a:txBody>
                    <a:bodyPr/>
                    <a:lstStyle/>
                    <a:p>
                      <a:pPr algn="ctr" indent="0" marL="0">
                        <a:buNone/>
                      </a:pPr>
                      <a:r>
                        <a:rPr lang="en-US" sz="1050" dirty="0">
                          <a:solidFill>
                            <a:srgbClr val="1E293B"/>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tcPr>
                </a:tc>
                <a:tc>
                  <a:txBody>
                    <a:bodyPr/>
                    <a:lstStyle/>
                    <a:p>
                      <a:pPr algn="ctr" indent="0" marL="0">
                        <a:buNone/>
                      </a:pPr>
                      <a:r>
                        <a:rPr lang="en-US" sz="1050" dirty="0">
                          <a:solidFill>
                            <a:srgbClr val="1E293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tcPr>
                </a:tc>
                <a:tc>
                  <a:txBody>
                    <a:bodyPr/>
                    <a:lstStyle/>
                    <a:p>
                      <a:pPr algn="ctr" indent="0" marL="0">
                        <a:buNone/>
                      </a:pPr>
                      <a:r>
                        <a:rPr lang="en-US" sz="1050" b="1" dirty="0">
                          <a:solidFill>
                            <a:srgbClr val="1E293B"/>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tcPr>
                </a:tc>
              </a:tr>
              <a:tr h="384048">
                <a:tc>
                  <a:txBody>
                    <a:bodyPr/>
                    <a:lstStyle/>
                    <a:p>
                      <a:pPr indent="0" marL="0">
                        <a:buNone/>
                      </a:pPr>
                      <a:r>
                        <a:rPr lang="en-US" sz="1050" b="1" dirty="0">
                          <a:solidFill>
                            <a:srgbClr val="027A5F"/>
                          </a:solidFill>
                          <a:latin typeface="Calibri" pitchFamily="34" charset="0"/>
                          <a:ea typeface="Calibri" pitchFamily="34" charset="-122"/>
                          <a:cs typeface="Calibri" pitchFamily="34" charset="-120"/>
                        </a:rPr>
                        <a:t>🏆 Tree-of-Thought</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E8F8F3"/>
                    </a:solidFill>
                  </a:tcPr>
                </a:tc>
                <a:tc>
                  <a:txBody>
                    <a:bodyPr/>
                    <a:lstStyle/>
                    <a:p>
                      <a:pPr algn="ctr" indent="0" marL="0">
                        <a:buNone/>
                      </a:pPr>
                      <a:r>
                        <a:rPr lang="en-US" sz="1050" b="1" dirty="0">
                          <a:solidFill>
                            <a:srgbClr val="027A5F"/>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E8F8F3"/>
                    </a:solidFill>
                  </a:tcPr>
                </a:tc>
                <a:tc>
                  <a:txBody>
                    <a:bodyPr/>
                    <a:lstStyle/>
                    <a:p>
                      <a:pPr algn="ctr" indent="0" marL="0">
                        <a:buNone/>
                      </a:pPr>
                      <a:r>
                        <a:rPr lang="en-US" sz="1050" b="1" dirty="0">
                          <a:solidFill>
                            <a:srgbClr val="027A5F"/>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E8F8F3"/>
                    </a:solidFill>
                  </a:tcPr>
                </a:tc>
                <a:tc>
                  <a:txBody>
                    <a:bodyPr/>
                    <a:lstStyle/>
                    <a:p>
                      <a:pPr algn="ctr" indent="0" marL="0">
                        <a:buNone/>
                      </a:pPr>
                      <a:r>
                        <a:rPr lang="en-US" sz="1050" b="1" dirty="0">
                          <a:solidFill>
                            <a:srgbClr val="027A5F"/>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E8F8F3"/>
                    </a:solidFill>
                  </a:tcPr>
                </a:tc>
                <a:tc>
                  <a:txBody>
                    <a:bodyPr/>
                    <a:lstStyle/>
                    <a:p>
                      <a:pPr algn="ctr" indent="0" marL="0">
                        <a:buNone/>
                      </a:pPr>
                      <a:r>
                        <a:rPr lang="en-US" sz="1050" b="1" dirty="0">
                          <a:solidFill>
                            <a:srgbClr val="027A5F"/>
                          </a:solidFill>
                          <a:latin typeface="Calibri" pitchFamily="34" charset="0"/>
                          <a:ea typeface="Calibri" pitchFamily="34" charset="-122"/>
                          <a:cs typeface="Calibri" pitchFamily="34" charset="-120"/>
                        </a:rPr>
                        <a:t>27</a:t>
                      </a:r>
                      <a:endParaRPr lang="en-US" sz="1050" dirty="0">
                        <a:latin typeface="Calibri" charset="0"/>
                        <a:ea typeface="Calibri" charset="0"/>
                        <a:cs typeface="Calibri" charset="0"/>
                      </a:endParaRPr>
                    </a:p>
                  </a:txBody>
                  <a:tcPr marL="91440" marR="91440" marT="45720" marB="45720">
                    <a:lnL w="12700" cap="flat" cmpd="sng" algn="ctr">
                      <a:solidFill>
                        <a:srgbClr val="D0E8F0"/>
                      </a:solidFill>
                      <a:prstDash val="solid"/>
                      <a:round/>
                      <a:headEnd type="none" w="med" len="med"/>
                      <a:tailEnd type="none" w="med" len="med"/>
                    </a:lnL>
                    <a:lnR w="12700" cap="flat" cmpd="sng" algn="ctr">
                      <a:solidFill>
                        <a:srgbClr val="D0E8F0"/>
                      </a:solidFill>
                      <a:prstDash val="solid"/>
                      <a:round/>
                      <a:headEnd type="none" w="med" len="med"/>
                      <a:tailEnd type="none" w="med" len="med"/>
                    </a:lnR>
                    <a:lnT w="12700" cap="flat" cmpd="sng" algn="ctr">
                      <a:solidFill>
                        <a:srgbClr val="D0E8F0"/>
                      </a:solidFill>
                      <a:prstDash val="solid"/>
                      <a:round/>
                      <a:headEnd type="none" w="med" len="med"/>
                      <a:tailEnd type="none" w="med" len="med"/>
                    </a:lnT>
                    <a:lnB w="12700" cap="flat" cmpd="sng" algn="ctr">
                      <a:solidFill>
                        <a:srgbClr val="D0E8F0"/>
                      </a:solidFill>
                      <a:prstDash val="solid"/>
                      <a:round/>
                      <a:headEnd type="none" w="med" len="med"/>
                      <a:tailEnd type="none" w="med" len="med"/>
                    </a:lnB>
                    <a:solidFill>
                      <a:srgbClr val="E8F8F3"/>
                    </a:solidFill>
                  </a:tcPr>
                </a:tc>
              </a:tr>
            </a:tbl>
          </a:graphicData>
        </a:graphic>
      </p:graphicFrame>
      <p:sp>
        <p:nvSpPr>
          <p:cNvPr id="6" name="Shape 3"/>
          <p:cNvSpPr/>
          <p:nvPr/>
        </p:nvSpPr>
        <p:spPr>
          <a:xfrm>
            <a:off x="365760" y="3246120"/>
            <a:ext cx="2651760" cy="1371600"/>
          </a:xfrm>
          <a:prstGeom prst="rect">
            <a:avLst/>
          </a:prstGeom>
          <a:solidFill>
            <a:srgbClr val="E8F8F3"/>
          </a:solidFill>
          <a:ln w="12700">
            <a:solidFill>
              <a:srgbClr val="02C39A"/>
            </a:solidFill>
            <a:prstDash val="solid"/>
          </a:ln>
          <a:effectLst>
            <a:outerShdw sx="100000" sy="100000" kx="0" ky="0" algn="bl" rotWithShape="0" blurRad="76200" dist="25400" dir="8100000">
              <a:srgbClr val="000000">
                <a:alpha val="12000"/>
              </a:srgbClr>
            </a:outerShdw>
          </a:effectLst>
        </p:spPr>
      </p:sp>
      <p:sp>
        <p:nvSpPr>
          <p:cNvPr id="7" name="Text 4"/>
          <p:cNvSpPr/>
          <p:nvPr/>
        </p:nvSpPr>
        <p:spPr>
          <a:xfrm>
            <a:off x="457200" y="3310128"/>
            <a:ext cx="2468880" cy="292608"/>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  Winner: Tree-of-Thought</a:t>
            </a:r>
            <a:endParaRPr lang="en-US" sz="1000" dirty="0"/>
          </a:p>
        </p:txBody>
      </p:sp>
      <p:sp>
        <p:nvSpPr>
          <p:cNvPr id="8" name="Text 5"/>
          <p:cNvSpPr/>
          <p:nvPr/>
        </p:nvSpPr>
        <p:spPr>
          <a:xfrm>
            <a:off x="457200" y="3630168"/>
            <a:ext cx="2468880" cy="8229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Multi-expert reasoning produced the most thorough, accurate and patient-appropriate simplifications across all literacy levels.</a:t>
            </a:r>
            <a:endParaRPr lang="en-US" sz="900" dirty="0"/>
          </a:p>
        </p:txBody>
      </p:sp>
      <p:sp>
        <p:nvSpPr>
          <p:cNvPr id="9" name="Shape 6"/>
          <p:cNvSpPr/>
          <p:nvPr/>
        </p:nvSpPr>
        <p:spPr>
          <a:xfrm>
            <a:off x="3200400" y="3246120"/>
            <a:ext cx="2651760" cy="1371600"/>
          </a:xfrm>
          <a:prstGeom prst="rect">
            <a:avLst/>
          </a:prstGeom>
          <a:solidFill>
            <a:srgbClr val="E0F2F7"/>
          </a:solidFill>
          <a:ln w="12700">
            <a:solidFill>
              <a:srgbClr val="028090"/>
            </a:solidFill>
            <a:prstDash val="solid"/>
          </a:ln>
          <a:effectLst>
            <a:outerShdw sx="100000" sy="100000" kx="0" ky="0" algn="bl" rotWithShape="0" blurRad="76200" dist="25400" dir="8100000">
              <a:srgbClr val="000000">
                <a:alpha val="12000"/>
              </a:srgbClr>
            </a:outerShdw>
          </a:effectLst>
        </p:spPr>
      </p:sp>
      <p:sp>
        <p:nvSpPr>
          <p:cNvPr id="10" name="Text 7"/>
          <p:cNvSpPr/>
          <p:nvPr/>
        </p:nvSpPr>
        <p:spPr>
          <a:xfrm>
            <a:off x="3291840" y="3310128"/>
            <a:ext cx="2468880" cy="292608"/>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  Pattern: More Structure = Better</a:t>
            </a:r>
            <a:endParaRPr lang="en-US" sz="1000" dirty="0"/>
          </a:p>
        </p:txBody>
      </p:sp>
      <p:sp>
        <p:nvSpPr>
          <p:cNvPr id="11" name="Text 8"/>
          <p:cNvSpPr/>
          <p:nvPr/>
        </p:nvSpPr>
        <p:spPr>
          <a:xfrm>
            <a:off x="3291840" y="3630168"/>
            <a:ext cx="2468880" cy="8229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Each added layer of reasoning (zero → few → CoT → ToT) consistently improved output quality across all three criteria.</a:t>
            </a:r>
            <a:endParaRPr lang="en-US" sz="900" dirty="0"/>
          </a:p>
        </p:txBody>
      </p:sp>
      <p:sp>
        <p:nvSpPr>
          <p:cNvPr id="12" name="Shape 9"/>
          <p:cNvSpPr/>
          <p:nvPr/>
        </p:nvSpPr>
        <p:spPr>
          <a:xfrm>
            <a:off x="6035040" y="3246120"/>
            <a:ext cx="2651760" cy="1371600"/>
          </a:xfrm>
          <a:prstGeom prst="rect">
            <a:avLst/>
          </a:prstGeom>
          <a:solidFill>
            <a:srgbClr val="FEF9EC"/>
          </a:solidFill>
          <a:ln w="12700">
            <a:solidFill>
              <a:srgbClr val="D4A017"/>
            </a:solidFill>
            <a:prstDash val="solid"/>
          </a:ln>
          <a:effectLst>
            <a:outerShdw sx="100000" sy="100000" kx="0" ky="0" algn="bl" rotWithShape="0" blurRad="76200" dist="25400" dir="8100000">
              <a:srgbClr val="000000">
                <a:alpha val="12000"/>
              </a:srgbClr>
            </a:outerShdw>
          </a:effectLst>
        </p:spPr>
      </p:sp>
      <p:sp>
        <p:nvSpPr>
          <p:cNvPr id="13" name="Text 10"/>
          <p:cNvSpPr/>
          <p:nvPr/>
        </p:nvSpPr>
        <p:spPr>
          <a:xfrm>
            <a:off x="6126480" y="3310128"/>
            <a:ext cx="2468880" cy="292608"/>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  Tradeoff: Quality vs Speed</a:t>
            </a:r>
            <a:endParaRPr lang="en-US" sz="1000" dirty="0"/>
          </a:p>
        </p:txBody>
      </p:sp>
      <p:sp>
        <p:nvSpPr>
          <p:cNvPr id="14" name="Text 11"/>
          <p:cNvSpPr/>
          <p:nvPr/>
        </p:nvSpPr>
        <p:spPr>
          <a:xfrm>
            <a:off x="6126480" y="3630168"/>
            <a:ext cx="2468880" cy="8229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ToT uses 3x more tokens than zero-shot. For production, CoT may be the optimal balance of quality and cost.</a:t>
            </a:r>
            <a:endParaRPr lang="en-US" sz="900" dirty="0"/>
          </a:p>
        </p:txBody>
      </p:sp>
      <p:sp>
        <p:nvSpPr>
          <p:cNvPr id="15" name="Shape 12"/>
          <p:cNvSpPr/>
          <p:nvPr/>
        </p:nvSpPr>
        <p:spPr>
          <a:xfrm>
            <a:off x="0" y="4873752"/>
            <a:ext cx="9144000" cy="269748"/>
          </a:xfrm>
          <a:prstGeom prst="rect">
            <a:avLst/>
          </a:prstGeom>
          <a:solidFill>
            <a:srgbClr val="028090"/>
          </a:solidFill>
          <a:ln w="12700">
            <a:solidFill>
              <a:srgbClr val="028090"/>
            </a:solidFill>
            <a:prstDash val="solid"/>
          </a:ln>
        </p:spPr>
      </p:sp>
      <p:sp>
        <p:nvSpPr>
          <p:cNvPr id="16" name="Text 13"/>
          <p:cNvSpPr/>
          <p:nvPr/>
        </p:nvSpPr>
        <p:spPr>
          <a:xfrm>
            <a:off x="365760" y="4892040"/>
            <a:ext cx="82296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AI in Healthcare  |  Frahim Mohd  |  UT Austin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2C39A"/>
          </a:solidFill>
          <a:ln w="12700">
            <a:solidFill>
              <a:srgbClr val="02C39A"/>
            </a:solidFill>
            <a:prstDash val="solid"/>
          </a:ln>
        </p:spPr>
      </p:sp>
      <p:sp>
        <p:nvSpPr>
          <p:cNvPr id="3" name="Text 1"/>
          <p:cNvSpPr/>
          <p:nvPr/>
        </p:nvSpPr>
        <p:spPr>
          <a:xfrm>
            <a:off x="548640" y="22860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Conclusions &amp; Future Work</a:t>
            </a:r>
            <a:endParaRPr lang="en-US" sz="2800" dirty="0"/>
          </a:p>
        </p:txBody>
      </p:sp>
      <p:sp>
        <p:nvSpPr>
          <p:cNvPr id="4" name="Shape 2"/>
          <p:cNvSpPr/>
          <p:nvPr/>
        </p:nvSpPr>
        <p:spPr>
          <a:xfrm>
            <a:off x="548640" y="822960"/>
            <a:ext cx="7772400" cy="36576"/>
          </a:xfrm>
          <a:prstGeom prst="rect">
            <a:avLst/>
          </a:prstGeom>
          <a:solidFill>
            <a:srgbClr val="1C7293"/>
          </a:solidFill>
          <a:ln w="12700">
            <a:solidFill>
              <a:srgbClr val="1C7293"/>
            </a:solidFill>
            <a:prstDash val="solid"/>
          </a:ln>
        </p:spPr>
      </p:sp>
      <p:sp>
        <p:nvSpPr>
          <p:cNvPr id="5" name="Text 3"/>
          <p:cNvSpPr/>
          <p:nvPr/>
        </p:nvSpPr>
        <p:spPr>
          <a:xfrm>
            <a:off x="548640" y="960120"/>
            <a:ext cx="3840480" cy="32004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  Key Conclusions</a:t>
            </a:r>
            <a:endParaRPr lang="en-US" sz="1400" dirty="0"/>
          </a:p>
        </p:txBody>
      </p:sp>
      <p:sp>
        <p:nvSpPr>
          <p:cNvPr id="6" name="Shape 4"/>
          <p:cNvSpPr/>
          <p:nvPr/>
        </p:nvSpPr>
        <p:spPr>
          <a:xfrm>
            <a:off x="548640" y="1325880"/>
            <a:ext cx="3840480" cy="530352"/>
          </a:xfrm>
          <a:prstGeom prst="rect">
            <a:avLst/>
          </a:prstGeom>
          <a:solidFill>
            <a:srgbClr val="1C7293"/>
          </a:solidFill>
          <a:ln w="12700">
            <a:solidFill>
              <a:srgbClr val="1C7293"/>
            </a:solidFill>
            <a:prstDash val="solid"/>
          </a:ln>
        </p:spPr>
      </p:sp>
      <p:sp>
        <p:nvSpPr>
          <p:cNvPr id="7" name="Text 5"/>
          <p:cNvSpPr/>
          <p:nvPr/>
        </p:nvSpPr>
        <p:spPr>
          <a:xfrm>
            <a:off x="640080" y="1353312"/>
            <a:ext cx="3657600" cy="4572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  Tree-of-Thought outperformed all methods (27/30) — multi-path reasoning is most effective for medical simplification</a:t>
            </a:r>
            <a:endParaRPr lang="en-US" sz="900" dirty="0"/>
          </a:p>
        </p:txBody>
      </p:sp>
      <p:sp>
        <p:nvSpPr>
          <p:cNvPr id="8" name="Shape 6"/>
          <p:cNvSpPr/>
          <p:nvPr/>
        </p:nvSpPr>
        <p:spPr>
          <a:xfrm>
            <a:off x="548640" y="1965960"/>
            <a:ext cx="3840480" cy="530352"/>
          </a:xfrm>
          <a:prstGeom prst="rect">
            <a:avLst/>
          </a:prstGeom>
          <a:solidFill>
            <a:srgbClr val="1C7293"/>
          </a:solidFill>
          <a:ln w="12700">
            <a:solidFill>
              <a:srgbClr val="1C7293"/>
            </a:solidFill>
            <a:prstDash val="solid"/>
          </a:ln>
        </p:spPr>
      </p:sp>
      <p:sp>
        <p:nvSpPr>
          <p:cNvPr id="9" name="Text 7"/>
          <p:cNvSpPr/>
          <p:nvPr/>
        </p:nvSpPr>
        <p:spPr>
          <a:xfrm>
            <a:off x="640080" y="1993392"/>
            <a:ext cx="3657600" cy="4572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  Few-shot / ICL significantly improved consistency over zero-shot baseline with minimal added complexity</a:t>
            </a:r>
            <a:endParaRPr lang="en-US" sz="900" dirty="0"/>
          </a:p>
        </p:txBody>
      </p:sp>
      <p:sp>
        <p:nvSpPr>
          <p:cNvPr id="10" name="Shape 8"/>
          <p:cNvSpPr/>
          <p:nvPr/>
        </p:nvSpPr>
        <p:spPr>
          <a:xfrm>
            <a:off x="548640" y="2606040"/>
            <a:ext cx="3840480" cy="530352"/>
          </a:xfrm>
          <a:prstGeom prst="rect">
            <a:avLst/>
          </a:prstGeom>
          <a:solidFill>
            <a:srgbClr val="1C7293"/>
          </a:solidFill>
          <a:ln w="12700">
            <a:solidFill>
              <a:srgbClr val="1C7293"/>
            </a:solidFill>
            <a:prstDash val="solid"/>
          </a:ln>
        </p:spPr>
      </p:sp>
      <p:sp>
        <p:nvSpPr>
          <p:cNvPr id="11" name="Text 9"/>
          <p:cNvSpPr/>
          <p:nvPr/>
        </p:nvSpPr>
        <p:spPr>
          <a:xfrm>
            <a:off x="640080" y="2633472"/>
            <a:ext cx="3657600" cy="4572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  LLMs can successfully convert raw tabular EHR data into readable, clinically accurate patient summaries</a:t>
            </a:r>
            <a:endParaRPr lang="en-US" sz="900" dirty="0"/>
          </a:p>
        </p:txBody>
      </p:sp>
      <p:sp>
        <p:nvSpPr>
          <p:cNvPr id="12" name="Shape 10"/>
          <p:cNvSpPr/>
          <p:nvPr/>
        </p:nvSpPr>
        <p:spPr>
          <a:xfrm>
            <a:off x="548640" y="3246120"/>
            <a:ext cx="3840480" cy="530352"/>
          </a:xfrm>
          <a:prstGeom prst="rect">
            <a:avLst/>
          </a:prstGeom>
          <a:solidFill>
            <a:srgbClr val="1C7293"/>
          </a:solidFill>
          <a:ln w="12700">
            <a:solidFill>
              <a:srgbClr val="1C7293"/>
            </a:solidFill>
            <a:prstDash val="solid"/>
          </a:ln>
        </p:spPr>
      </p:sp>
      <p:sp>
        <p:nvSpPr>
          <p:cNvPr id="13" name="Text 11"/>
          <p:cNvSpPr/>
          <p:nvPr/>
        </p:nvSpPr>
        <p:spPr>
          <a:xfrm>
            <a:off x="640080" y="3273552"/>
            <a:ext cx="3657600" cy="4572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  LLM-as-Judge is a viable evaluation strategy when human raters are unavailable</a:t>
            </a:r>
            <a:endParaRPr lang="en-US" sz="900" dirty="0"/>
          </a:p>
        </p:txBody>
      </p:sp>
      <p:sp>
        <p:nvSpPr>
          <p:cNvPr id="14" name="Text 12"/>
          <p:cNvSpPr/>
          <p:nvPr/>
        </p:nvSpPr>
        <p:spPr>
          <a:xfrm>
            <a:off x="4754880" y="960120"/>
            <a:ext cx="4023360" cy="32004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  Ideas for Improvement</a:t>
            </a:r>
            <a:endParaRPr lang="en-US" sz="1400" dirty="0"/>
          </a:p>
        </p:txBody>
      </p:sp>
      <p:sp>
        <p:nvSpPr>
          <p:cNvPr id="15" name="Text 13"/>
          <p:cNvSpPr/>
          <p:nvPr/>
        </p:nvSpPr>
        <p:spPr>
          <a:xfrm>
            <a:off x="4754880" y="1353312"/>
            <a:ext cx="4023360" cy="50292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  Human evaluation by real doctors and patients for more reliable scoring</a:t>
            </a:r>
            <a:endParaRPr lang="en-US" sz="950" dirty="0"/>
          </a:p>
        </p:txBody>
      </p:sp>
      <p:sp>
        <p:nvSpPr>
          <p:cNvPr id="16" name="Text 14"/>
          <p:cNvSpPr/>
          <p:nvPr/>
        </p:nvSpPr>
        <p:spPr>
          <a:xfrm>
            <a:off x="4754880" y="1975104"/>
            <a:ext cx="4023360" cy="50292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  Flesch-Kincaid readability scores for objective literacy level measurement</a:t>
            </a:r>
            <a:endParaRPr lang="en-US" sz="950" dirty="0"/>
          </a:p>
        </p:txBody>
      </p:sp>
      <p:sp>
        <p:nvSpPr>
          <p:cNvPr id="17" name="Text 15"/>
          <p:cNvSpPr/>
          <p:nvPr/>
        </p:nvSpPr>
        <p:spPr>
          <a:xfrm>
            <a:off x="4754880" y="2596896"/>
            <a:ext cx="4023360" cy="50292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  Fine-tuned healthcare LLMs (PMC-LLaMA) instead of general-purpose GPT</a:t>
            </a:r>
            <a:endParaRPr lang="en-US" sz="950" dirty="0"/>
          </a:p>
        </p:txBody>
      </p:sp>
      <p:sp>
        <p:nvSpPr>
          <p:cNvPr id="18" name="Text 16"/>
          <p:cNvSpPr/>
          <p:nvPr/>
        </p:nvSpPr>
        <p:spPr>
          <a:xfrm>
            <a:off x="4754880" y="3218688"/>
            <a:ext cx="4023360" cy="50292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  Multilingual support for non-English speaking patient populations</a:t>
            </a:r>
            <a:endParaRPr lang="en-US" sz="950" dirty="0"/>
          </a:p>
        </p:txBody>
      </p:sp>
      <p:sp>
        <p:nvSpPr>
          <p:cNvPr id="19" name="Text 17"/>
          <p:cNvSpPr/>
          <p:nvPr/>
        </p:nvSpPr>
        <p:spPr>
          <a:xfrm>
            <a:off x="4754880" y="3840480"/>
            <a:ext cx="4023360" cy="50292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  Production UI for real physician note simplification workflow</a:t>
            </a:r>
            <a:endParaRPr lang="en-US" sz="950" dirty="0"/>
          </a:p>
        </p:txBody>
      </p:sp>
      <p:sp>
        <p:nvSpPr>
          <p:cNvPr id="20" name="Text 18"/>
          <p:cNvSpPr/>
          <p:nvPr/>
        </p:nvSpPr>
        <p:spPr>
          <a:xfrm>
            <a:off x="365760" y="4892040"/>
            <a:ext cx="82296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AI in Healthcare  |  Frahim Mohd  |  UT Austin  |  April 2026</a:t>
            </a:r>
            <a:endParaRPr lang="en-US" sz="900" dirty="0"/>
          </a:p>
        </p:txBody>
      </p:sp>
      <p:sp>
        <p:nvSpPr>
          <p:cNvPr id="21" name="Shape 19"/>
          <p:cNvSpPr/>
          <p:nvPr/>
        </p:nvSpPr>
        <p:spPr>
          <a:xfrm>
            <a:off x="0" y="4873752"/>
            <a:ext cx="9144000" cy="269748"/>
          </a:xfrm>
          <a:prstGeom prst="rect">
            <a:avLst/>
          </a:prstGeom>
          <a:solidFill>
            <a:srgbClr val="028090"/>
          </a:solidFill>
          <a:ln w="12700">
            <a:solidFill>
              <a:srgbClr val="028090"/>
            </a:solidFill>
            <a:prstDash val="solid"/>
          </a:ln>
        </p:spPr>
      </p:sp>
      <p:sp>
        <p:nvSpPr>
          <p:cNvPr id="22" name="Text 20"/>
          <p:cNvSpPr/>
          <p:nvPr/>
        </p:nvSpPr>
        <p:spPr>
          <a:xfrm>
            <a:off x="365760" y="4892040"/>
            <a:ext cx="82296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AI in Healthcare  |  Frahim Mohd  |  UT Austin  |  April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Note Simplification Using LLMs</dc:title>
  <dc:subject>PptxGenJS Presentation</dc:subject>
  <dc:creator>Frahim Mohd</dc:creator>
  <cp:lastModifiedBy>Frahim Mohd</cp:lastModifiedBy>
  <cp:revision>1</cp:revision>
  <dcterms:created xsi:type="dcterms:W3CDTF">2026-04-13T03:30:53Z</dcterms:created>
  <dcterms:modified xsi:type="dcterms:W3CDTF">2026-04-13T03:30:53Z</dcterms:modified>
</cp:coreProperties>
</file>